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2"/>
    <p:sldId id="262" r:id="rId3"/>
    <p:sldId id="287" r:id="rId4"/>
    <p:sldId id="294" r:id="rId5"/>
    <p:sldId id="289" r:id="rId6"/>
    <p:sldId id="295" r:id="rId7"/>
    <p:sldId id="296" r:id="rId8"/>
    <p:sldId id="290" r:id="rId9"/>
    <p:sldId id="297" r:id="rId10"/>
    <p:sldId id="291" r:id="rId11"/>
    <p:sldId id="298" r:id="rId12"/>
    <p:sldId id="288" r:id="rId13"/>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658" y="62"/>
      </p:cViewPr>
      <p:guideLst>
        <p:guide orient="horz" pos="2121"/>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任意多边形: 形状 5"/>
          <p:cNvSpPr/>
          <p:nvPr userDrawn="1"/>
        </p:nvSpPr>
        <p:spPr>
          <a:xfrm>
            <a:off x="0" y="1485146"/>
            <a:ext cx="12192000" cy="4944715"/>
          </a:xfrm>
          <a:custGeom>
            <a:avLst/>
            <a:gdLst>
              <a:gd name="connsiteX0" fmla="*/ 6096000 w 12192000"/>
              <a:gd name="connsiteY0" fmla="*/ 0 h 4944715"/>
              <a:gd name="connsiteX1" fmla="*/ 11775918 w 12192000"/>
              <a:gd name="connsiteY1" fmla="*/ 1585811 h 4944715"/>
              <a:gd name="connsiteX2" fmla="*/ 12192000 w 12192000"/>
              <a:gd name="connsiteY2" fmla="*/ 1852557 h 4944715"/>
              <a:gd name="connsiteX3" fmla="*/ 12192000 w 12192000"/>
              <a:gd name="connsiteY3" fmla="*/ 4944715 h 4944715"/>
              <a:gd name="connsiteX4" fmla="*/ 0 w 12192000"/>
              <a:gd name="connsiteY4" fmla="*/ 4944715 h 4944715"/>
              <a:gd name="connsiteX5" fmla="*/ 0 w 12192000"/>
              <a:gd name="connsiteY5" fmla="*/ 1852557 h 4944715"/>
              <a:gd name="connsiteX6" fmla="*/ 416082 w 12192000"/>
              <a:gd name="connsiteY6" fmla="*/ 1585811 h 4944715"/>
              <a:gd name="connsiteX7" fmla="*/ 6096000 w 12192000"/>
              <a:gd name="connsiteY7" fmla="*/ 0 h 494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944715">
                <a:moveTo>
                  <a:pt x="6096000" y="0"/>
                </a:moveTo>
                <a:cubicBezTo>
                  <a:pt x="8175547" y="0"/>
                  <a:pt x="10119745" y="579496"/>
                  <a:pt x="11775918" y="1585811"/>
                </a:cubicBezTo>
                <a:lnTo>
                  <a:pt x="12192000" y="1852557"/>
                </a:lnTo>
                <a:lnTo>
                  <a:pt x="12192000" y="4944715"/>
                </a:lnTo>
                <a:lnTo>
                  <a:pt x="0" y="4944715"/>
                </a:lnTo>
                <a:lnTo>
                  <a:pt x="0" y="1852557"/>
                </a:lnTo>
                <a:lnTo>
                  <a:pt x="416082" y="1585811"/>
                </a:lnTo>
                <a:cubicBezTo>
                  <a:pt x="2072256" y="579496"/>
                  <a:pt x="4016454" y="0"/>
                  <a:pt x="6096000" y="0"/>
                </a:cubicBezTo>
                <a:close/>
              </a:path>
            </a:pathLst>
          </a:custGeom>
          <a:solidFill>
            <a:schemeClr val="accent1">
              <a:lumMod val="10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sp>
        <p:nvSpPr>
          <p:cNvPr id="7" name="任意多边形: 形状 6"/>
          <p:cNvSpPr/>
          <p:nvPr userDrawn="1"/>
        </p:nvSpPr>
        <p:spPr>
          <a:xfrm>
            <a:off x="0" y="1913286"/>
            <a:ext cx="12192000" cy="4944715"/>
          </a:xfrm>
          <a:custGeom>
            <a:avLst/>
            <a:gdLst>
              <a:gd name="connsiteX0" fmla="*/ 6096000 w 12192000"/>
              <a:gd name="connsiteY0" fmla="*/ 0 h 4944715"/>
              <a:gd name="connsiteX1" fmla="*/ 11775918 w 12192000"/>
              <a:gd name="connsiteY1" fmla="*/ 1585811 h 4944715"/>
              <a:gd name="connsiteX2" fmla="*/ 12192000 w 12192000"/>
              <a:gd name="connsiteY2" fmla="*/ 1852557 h 4944715"/>
              <a:gd name="connsiteX3" fmla="*/ 12192000 w 12192000"/>
              <a:gd name="connsiteY3" fmla="*/ 4944715 h 4944715"/>
              <a:gd name="connsiteX4" fmla="*/ 0 w 12192000"/>
              <a:gd name="connsiteY4" fmla="*/ 4944715 h 4944715"/>
              <a:gd name="connsiteX5" fmla="*/ 0 w 12192000"/>
              <a:gd name="connsiteY5" fmla="*/ 1852557 h 4944715"/>
              <a:gd name="connsiteX6" fmla="*/ 416082 w 12192000"/>
              <a:gd name="connsiteY6" fmla="*/ 1585811 h 4944715"/>
              <a:gd name="connsiteX7" fmla="*/ 6096000 w 12192000"/>
              <a:gd name="connsiteY7" fmla="*/ 0 h 494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944715">
                <a:moveTo>
                  <a:pt x="6096000" y="0"/>
                </a:moveTo>
                <a:cubicBezTo>
                  <a:pt x="8175547" y="0"/>
                  <a:pt x="10119745" y="579496"/>
                  <a:pt x="11775918" y="1585811"/>
                </a:cubicBezTo>
                <a:lnTo>
                  <a:pt x="12192000" y="1852557"/>
                </a:lnTo>
                <a:lnTo>
                  <a:pt x="12192000" y="4944715"/>
                </a:lnTo>
                <a:lnTo>
                  <a:pt x="0" y="4944715"/>
                </a:lnTo>
                <a:lnTo>
                  <a:pt x="0" y="1852557"/>
                </a:lnTo>
                <a:lnTo>
                  <a:pt x="416082" y="1585811"/>
                </a:lnTo>
                <a:cubicBezTo>
                  <a:pt x="2072256" y="579496"/>
                  <a:pt x="4016454" y="0"/>
                  <a:pt x="6096000" y="0"/>
                </a:cubicBezTo>
                <a:close/>
              </a:path>
            </a:pathLst>
          </a:custGeom>
          <a:gradFill flip="none" rotWithShape="1">
            <a:gsLst>
              <a:gs pos="0">
                <a:schemeClr val="accent1">
                  <a:lumMod val="100000"/>
                </a:schemeClr>
              </a:gs>
              <a:gs pos="83000">
                <a:schemeClr val="accent1">
                  <a:lumMod val="100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sp>
        <p:nvSpPr>
          <p:cNvPr id="8" name="矩形 7"/>
          <p:cNvSpPr/>
          <p:nvPr userDrawn="1"/>
        </p:nvSpPr>
        <p:spPr>
          <a:xfrm>
            <a:off x="0" y="0"/>
            <a:ext cx="12192000" cy="240846"/>
          </a:xfrm>
          <a:prstGeom prst="rect">
            <a:avLst/>
          </a:prstGeom>
          <a:gradFill flip="none" rotWithShape="1">
            <a:gsLst>
              <a:gs pos="0">
                <a:schemeClr val="accent1">
                  <a:lumMod val="100000"/>
                </a:schemeClr>
              </a:gs>
              <a:gs pos="59000">
                <a:schemeClr val="accent1">
                  <a:lumMod val="10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
        <p:nvSpPr>
          <p:cNvPr id="9" name="矩形: 圆角 8"/>
          <p:cNvSpPr/>
          <p:nvPr userDrawn="1"/>
        </p:nvSpPr>
        <p:spPr>
          <a:xfrm>
            <a:off x="981076" y="1111249"/>
            <a:ext cx="10229849" cy="4944715"/>
          </a:xfrm>
          <a:prstGeom prst="roundRect">
            <a:avLst>
              <a:gd name="adj" fmla="val 2420"/>
            </a:avLst>
          </a:prstGeom>
          <a:solidFill>
            <a:schemeClr val="bg1"/>
          </a:solidFill>
          <a:ln>
            <a:noFill/>
          </a:ln>
          <a:effectLst>
            <a:outerShdw blurRad="165100" sx="102000" sy="102000" algn="ctr" rotWithShape="0">
              <a:srgbClr val="2361A5">
                <a:alpha val="2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
        <p:nvSpPr>
          <p:cNvPr id="10" name="任意多边形: 形状 9"/>
          <p:cNvSpPr/>
          <p:nvPr userDrawn="1"/>
        </p:nvSpPr>
        <p:spPr>
          <a:xfrm>
            <a:off x="2801131" y="4772089"/>
            <a:ext cx="4552140" cy="1304706"/>
          </a:xfrm>
          <a:custGeom>
            <a:avLst/>
            <a:gdLst>
              <a:gd name="connsiteX0" fmla="*/ 2276070 w 4552140"/>
              <a:gd name="connsiteY0" fmla="*/ 0 h 1304706"/>
              <a:gd name="connsiteX1" fmla="*/ 4467312 w 4552140"/>
              <a:gd name="connsiteY1" fmla="*/ 1165074 h 1304706"/>
              <a:gd name="connsiteX2" fmla="*/ 4552140 w 4552140"/>
              <a:gd name="connsiteY2" fmla="*/ 1304706 h 1304706"/>
              <a:gd name="connsiteX3" fmla="*/ 0 w 4552140"/>
              <a:gd name="connsiteY3" fmla="*/ 1304706 h 1304706"/>
              <a:gd name="connsiteX4" fmla="*/ 84829 w 4552140"/>
              <a:gd name="connsiteY4" fmla="*/ 1165074 h 1304706"/>
              <a:gd name="connsiteX5" fmla="*/ 2276070 w 4552140"/>
              <a:gd name="connsiteY5" fmla="*/ 0 h 130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2140" h="1304706">
                <a:moveTo>
                  <a:pt x="2276070" y="0"/>
                </a:moveTo>
                <a:cubicBezTo>
                  <a:pt x="3188219" y="0"/>
                  <a:pt x="3992427" y="462152"/>
                  <a:pt x="4467312" y="1165074"/>
                </a:cubicBezTo>
                <a:lnTo>
                  <a:pt x="4552140" y="1304706"/>
                </a:lnTo>
                <a:lnTo>
                  <a:pt x="0" y="1304706"/>
                </a:lnTo>
                <a:lnTo>
                  <a:pt x="84829" y="1165074"/>
                </a:lnTo>
                <a:cubicBezTo>
                  <a:pt x="559714" y="462152"/>
                  <a:pt x="1363922" y="0"/>
                  <a:pt x="2276070" y="0"/>
                </a:cubicBezTo>
                <a:close/>
              </a:path>
            </a:pathLst>
          </a:custGeom>
          <a:solidFill>
            <a:schemeClr val="accent1">
              <a:lumMod val="10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sp>
        <p:nvSpPr>
          <p:cNvPr id="11" name="任意多边形: 形状 10"/>
          <p:cNvSpPr/>
          <p:nvPr userDrawn="1"/>
        </p:nvSpPr>
        <p:spPr>
          <a:xfrm>
            <a:off x="7087607" y="3833643"/>
            <a:ext cx="4123318" cy="2243152"/>
          </a:xfrm>
          <a:custGeom>
            <a:avLst/>
            <a:gdLst>
              <a:gd name="connsiteX0" fmla="*/ 2866764 w 4123318"/>
              <a:gd name="connsiteY0" fmla="*/ 0 h 2243152"/>
              <a:gd name="connsiteX1" fmla="*/ 4017841 w 4123318"/>
              <a:gd name="connsiteY1" fmla="*/ 232392 h 2243152"/>
              <a:gd name="connsiteX2" fmla="*/ 4123318 w 4123318"/>
              <a:gd name="connsiteY2" fmla="*/ 283203 h 2243152"/>
              <a:gd name="connsiteX3" fmla="*/ 4123318 w 4123318"/>
              <a:gd name="connsiteY3" fmla="*/ 2130973 h 2243152"/>
              <a:gd name="connsiteX4" fmla="*/ 4011139 w 4123318"/>
              <a:gd name="connsiteY4" fmla="*/ 2243152 h 2243152"/>
              <a:gd name="connsiteX5" fmla="*/ 0 w 4123318"/>
              <a:gd name="connsiteY5" fmla="*/ 2243152 h 2243152"/>
              <a:gd name="connsiteX6" fmla="*/ 42511 w 4123318"/>
              <a:gd name="connsiteY6" fmla="*/ 2077822 h 2243152"/>
              <a:gd name="connsiteX7" fmla="*/ 2866764 w 4123318"/>
              <a:gd name="connsiteY7" fmla="*/ 0 h 224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23318" h="2243152">
                <a:moveTo>
                  <a:pt x="2866764" y="0"/>
                </a:moveTo>
                <a:cubicBezTo>
                  <a:pt x="3275069" y="0"/>
                  <a:pt x="3664046" y="82749"/>
                  <a:pt x="4017841" y="232392"/>
                </a:cubicBezTo>
                <a:lnTo>
                  <a:pt x="4123318" y="283203"/>
                </a:lnTo>
                <a:lnTo>
                  <a:pt x="4123318" y="2130973"/>
                </a:lnTo>
                <a:cubicBezTo>
                  <a:pt x="4123318" y="2192928"/>
                  <a:pt x="4073094" y="2243152"/>
                  <a:pt x="4011139" y="2243152"/>
                </a:cubicBezTo>
                <a:lnTo>
                  <a:pt x="0" y="2243152"/>
                </a:lnTo>
                <a:lnTo>
                  <a:pt x="42511" y="2077822"/>
                </a:lnTo>
                <a:cubicBezTo>
                  <a:pt x="416927" y="874037"/>
                  <a:pt x="1539774" y="0"/>
                  <a:pt x="2866764" y="0"/>
                </a:cubicBezTo>
                <a:close/>
              </a:path>
            </a:pathLst>
          </a:custGeom>
          <a:solidFill>
            <a:schemeClr val="accent1">
              <a:lumMod val="10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sp>
        <p:nvSpPr>
          <p:cNvPr id="12" name="任意多边形: 形状 11"/>
          <p:cNvSpPr/>
          <p:nvPr userDrawn="1"/>
        </p:nvSpPr>
        <p:spPr>
          <a:xfrm>
            <a:off x="981076" y="4287549"/>
            <a:ext cx="3973235" cy="1789246"/>
          </a:xfrm>
          <a:custGeom>
            <a:avLst/>
            <a:gdLst>
              <a:gd name="connsiteX0" fmla="*/ 1256555 w 3973235"/>
              <a:gd name="connsiteY0" fmla="*/ 0 h 1789246"/>
              <a:gd name="connsiteX1" fmla="*/ 3856840 w 3973235"/>
              <a:gd name="connsiteY1" fmla="*/ 1547625 h 1789246"/>
              <a:gd name="connsiteX2" fmla="*/ 3973235 w 3973235"/>
              <a:gd name="connsiteY2" fmla="*/ 1789246 h 1789246"/>
              <a:gd name="connsiteX3" fmla="*/ 112179 w 3973235"/>
              <a:gd name="connsiteY3" fmla="*/ 1789246 h 1789246"/>
              <a:gd name="connsiteX4" fmla="*/ 0 w 3973235"/>
              <a:gd name="connsiteY4" fmla="*/ 1677067 h 1789246"/>
              <a:gd name="connsiteX5" fmla="*/ 0 w 3973235"/>
              <a:gd name="connsiteY5" fmla="*/ 283204 h 1789246"/>
              <a:gd name="connsiteX6" fmla="*/ 105478 w 3973235"/>
              <a:gd name="connsiteY6" fmla="*/ 232392 h 1789246"/>
              <a:gd name="connsiteX7" fmla="*/ 1256555 w 3973235"/>
              <a:gd name="connsiteY7" fmla="*/ 0 h 1789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73235" h="1789246">
                <a:moveTo>
                  <a:pt x="1256555" y="0"/>
                </a:moveTo>
                <a:cubicBezTo>
                  <a:pt x="2379393" y="0"/>
                  <a:pt x="3356069" y="625790"/>
                  <a:pt x="3856840" y="1547625"/>
                </a:cubicBezTo>
                <a:lnTo>
                  <a:pt x="3973235" y="1789246"/>
                </a:lnTo>
                <a:lnTo>
                  <a:pt x="112179" y="1789246"/>
                </a:lnTo>
                <a:cubicBezTo>
                  <a:pt x="50224" y="1789246"/>
                  <a:pt x="0" y="1739022"/>
                  <a:pt x="0" y="1677067"/>
                </a:cubicBezTo>
                <a:lnTo>
                  <a:pt x="0" y="283204"/>
                </a:lnTo>
                <a:lnTo>
                  <a:pt x="105478" y="232392"/>
                </a:lnTo>
                <a:cubicBezTo>
                  <a:pt x="459273" y="82749"/>
                  <a:pt x="848251" y="0"/>
                  <a:pt x="1256555" y="0"/>
                </a:cubicBezTo>
                <a:close/>
              </a:path>
            </a:pathLst>
          </a:custGeom>
          <a:solidFill>
            <a:schemeClr val="accent1">
              <a:lumMod val="10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任意多边形: 形状 5"/>
          <p:cNvSpPr/>
          <p:nvPr userDrawn="1"/>
        </p:nvSpPr>
        <p:spPr>
          <a:xfrm flipV="1">
            <a:off x="0" y="0"/>
            <a:ext cx="12192000" cy="6311514"/>
          </a:xfrm>
          <a:custGeom>
            <a:avLst/>
            <a:gdLst>
              <a:gd name="connsiteX0" fmla="*/ 0 w 12192000"/>
              <a:gd name="connsiteY0" fmla="*/ 6311514 h 6311514"/>
              <a:gd name="connsiteX1" fmla="*/ 12192000 w 12192000"/>
              <a:gd name="connsiteY1" fmla="*/ 6311514 h 6311514"/>
              <a:gd name="connsiteX2" fmla="*/ 12192000 w 12192000"/>
              <a:gd name="connsiteY2" fmla="*/ 1396624 h 6311514"/>
              <a:gd name="connsiteX3" fmla="*/ 12119343 w 12192000"/>
              <a:gd name="connsiteY3" fmla="*/ 1360381 h 6311514"/>
              <a:gd name="connsiteX4" fmla="*/ 6096000 w 12192000"/>
              <a:gd name="connsiteY4" fmla="*/ 0 h 6311514"/>
              <a:gd name="connsiteX5" fmla="*/ 72657 w 12192000"/>
              <a:gd name="connsiteY5" fmla="*/ 1360381 h 6311514"/>
              <a:gd name="connsiteX6" fmla="*/ 0 w 12192000"/>
              <a:gd name="connsiteY6" fmla="*/ 1396624 h 631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311514">
                <a:moveTo>
                  <a:pt x="0" y="6311514"/>
                </a:moveTo>
                <a:lnTo>
                  <a:pt x="12192000" y="6311514"/>
                </a:lnTo>
                <a:lnTo>
                  <a:pt x="12192000" y="1396624"/>
                </a:lnTo>
                <a:lnTo>
                  <a:pt x="12119343" y="1360381"/>
                </a:lnTo>
                <a:cubicBezTo>
                  <a:pt x="10295297" y="488303"/>
                  <a:pt x="8252673" y="0"/>
                  <a:pt x="6096000" y="0"/>
                </a:cubicBezTo>
                <a:cubicBezTo>
                  <a:pt x="3939328" y="0"/>
                  <a:pt x="1896704" y="488303"/>
                  <a:pt x="72657" y="1360381"/>
                </a:cubicBezTo>
                <a:lnTo>
                  <a:pt x="0" y="1396624"/>
                </a:lnTo>
                <a:close/>
              </a:path>
            </a:pathLst>
          </a:custGeom>
          <a:solidFill>
            <a:schemeClr val="accent1">
              <a:lumMod val="10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sp>
        <p:nvSpPr>
          <p:cNvPr id="7" name="任意多边形: 形状 6"/>
          <p:cNvSpPr/>
          <p:nvPr userDrawn="1"/>
        </p:nvSpPr>
        <p:spPr>
          <a:xfrm flipV="1">
            <a:off x="0" y="0"/>
            <a:ext cx="12192000" cy="5898377"/>
          </a:xfrm>
          <a:custGeom>
            <a:avLst/>
            <a:gdLst>
              <a:gd name="connsiteX0" fmla="*/ 0 w 12192000"/>
              <a:gd name="connsiteY0" fmla="*/ 5898377 h 5898377"/>
              <a:gd name="connsiteX1" fmla="*/ 12192000 w 12192000"/>
              <a:gd name="connsiteY1" fmla="*/ 5898377 h 5898377"/>
              <a:gd name="connsiteX2" fmla="*/ 12192000 w 12192000"/>
              <a:gd name="connsiteY2" fmla="*/ 1396624 h 5898377"/>
              <a:gd name="connsiteX3" fmla="*/ 12119343 w 12192000"/>
              <a:gd name="connsiteY3" fmla="*/ 1360381 h 5898377"/>
              <a:gd name="connsiteX4" fmla="*/ 6096000 w 12192000"/>
              <a:gd name="connsiteY4" fmla="*/ 0 h 5898377"/>
              <a:gd name="connsiteX5" fmla="*/ 72657 w 12192000"/>
              <a:gd name="connsiteY5" fmla="*/ 1360381 h 5898377"/>
              <a:gd name="connsiteX6" fmla="*/ 0 w 12192000"/>
              <a:gd name="connsiteY6" fmla="*/ 1396624 h 589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98377">
                <a:moveTo>
                  <a:pt x="0" y="5898377"/>
                </a:moveTo>
                <a:lnTo>
                  <a:pt x="12192000" y="5898377"/>
                </a:lnTo>
                <a:lnTo>
                  <a:pt x="12192000" y="1396624"/>
                </a:lnTo>
                <a:lnTo>
                  <a:pt x="12119343" y="1360381"/>
                </a:lnTo>
                <a:cubicBezTo>
                  <a:pt x="10295297" y="488303"/>
                  <a:pt x="8252673" y="0"/>
                  <a:pt x="6096000" y="0"/>
                </a:cubicBezTo>
                <a:cubicBezTo>
                  <a:pt x="3939328" y="0"/>
                  <a:pt x="1896704" y="488303"/>
                  <a:pt x="72657" y="1360381"/>
                </a:cubicBezTo>
                <a:lnTo>
                  <a:pt x="0" y="1396624"/>
                </a:lnTo>
                <a:close/>
              </a:path>
            </a:pathLst>
          </a:custGeom>
          <a:gradFill flip="none" rotWithShape="1">
            <a:gsLst>
              <a:gs pos="0">
                <a:schemeClr val="accent1">
                  <a:lumMod val="100000"/>
                </a:schemeClr>
              </a:gs>
              <a:gs pos="83000">
                <a:schemeClr val="accent1">
                  <a:lumMod val="100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sp>
        <p:nvSpPr>
          <p:cNvPr id="8" name="矩形 7"/>
          <p:cNvSpPr/>
          <p:nvPr userDrawn="1"/>
        </p:nvSpPr>
        <p:spPr>
          <a:xfrm>
            <a:off x="0" y="6616800"/>
            <a:ext cx="12192000" cy="241200"/>
          </a:xfrm>
          <a:prstGeom prst="rect">
            <a:avLst/>
          </a:prstGeom>
          <a:gradFill flip="none" rotWithShape="1">
            <a:gsLst>
              <a:gs pos="0">
                <a:schemeClr val="accent1">
                  <a:lumMod val="100000"/>
                </a:schemeClr>
              </a:gs>
              <a:gs pos="59000">
                <a:schemeClr val="accent1">
                  <a:lumMod val="10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矩形 1"/>
          <p:cNvSpPr/>
          <p:nvPr userDrawn="1"/>
        </p:nvSpPr>
        <p:spPr>
          <a:xfrm flipH="1">
            <a:off x="0" y="0"/>
            <a:ext cx="12192000" cy="590550"/>
          </a:xfrm>
          <a:prstGeom prst="rect">
            <a:avLst/>
          </a:prstGeom>
          <a:gradFill flip="none" rotWithShape="1">
            <a:gsLst>
              <a:gs pos="0">
                <a:schemeClr val="accent1">
                  <a:lumMod val="100000"/>
                </a:schemeClr>
              </a:gs>
              <a:gs pos="59000">
                <a:schemeClr val="accent1">
                  <a:lumMod val="10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grpSp>
        <p:nvGrpSpPr>
          <p:cNvPr id="8" name="组合 7"/>
          <p:cNvGrpSpPr/>
          <p:nvPr userDrawn="1"/>
        </p:nvGrpSpPr>
        <p:grpSpPr>
          <a:xfrm>
            <a:off x="8750710" y="34308"/>
            <a:ext cx="3441289" cy="556241"/>
            <a:chOff x="8750710" y="34308"/>
            <a:chExt cx="3441289" cy="556241"/>
          </a:xfrm>
        </p:grpSpPr>
        <p:grpSp>
          <p:nvGrpSpPr>
            <p:cNvPr id="6" name="组合 5"/>
            <p:cNvGrpSpPr/>
            <p:nvPr userDrawn="1"/>
          </p:nvGrpSpPr>
          <p:grpSpPr>
            <a:xfrm>
              <a:off x="10224587" y="34308"/>
              <a:ext cx="1967412" cy="556241"/>
              <a:chOff x="3276937" y="3833643"/>
              <a:chExt cx="7933988" cy="2243152"/>
            </a:xfrm>
            <a:solidFill>
              <a:schemeClr val="bg1">
                <a:alpha val="43000"/>
              </a:schemeClr>
            </a:solidFill>
          </p:grpSpPr>
          <p:sp>
            <p:nvSpPr>
              <p:cNvPr id="3" name="任意多边形: 形状 2"/>
              <p:cNvSpPr/>
              <p:nvPr userDrawn="1"/>
            </p:nvSpPr>
            <p:spPr>
              <a:xfrm>
                <a:off x="3276937" y="4772088"/>
                <a:ext cx="4552139" cy="1304707"/>
              </a:xfrm>
              <a:custGeom>
                <a:avLst/>
                <a:gdLst>
                  <a:gd name="connsiteX0" fmla="*/ 2276070 w 4552140"/>
                  <a:gd name="connsiteY0" fmla="*/ 0 h 1304706"/>
                  <a:gd name="connsiteX1" fmla="*/ 4467312 w 4552140"/>
                  <a:gd name="connsiteY1" fmla="*/ 1165074 h 1304706"/>
                  <a:gd name="connsiteX2" fmla="*/ 4552140 w 4552140"/>
                  <a:gd name="connsiteY2" fmla="*/ 1304706 h 1304706"/>
                  <a:gd name="connsiteX3" fmla="*/ 0 w 4552140"/>
                  <a:gd name="connsiteY3" fmla="*/ 1304706 h 1304706"/>
                  <a:gd name="connsiteX4" fmla="*/ 84829 w 4552140"/>
                  <a:gd name="connsiteY4" fmla="*/ 1165074 h 1304706"/>
                  <a:gd name="connsiteX5" fmla="*/ 2276070 w 4552140"/>
                  <a:gd name="connsiteY5" fmla="*/ 0 h 130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2140" h="1304706">
                    <a:moveTo>
                      <a:pt x="2276070" y="0"/>
                    </a:moveTo>
                    <a:cubicBezTo>
                      <a:pt x="3188219" y="0"/>
                      <a:pt x="3992427" y="462152"/>
                      <a:pt x="4467312" y="1165074"/>
                    </a:cubicBezTo>
                    <a:lnTo>
                      <a:pt x="4552140" y="1304706"/>
                    </a:lnTo>
                    <a:lnTo>
                      <a:pt x="0" y="1304706"/>
                    </a:lnTo>
                    <a:lnTo>
                      <a:pt x="84829" y="1165074"/>
                    </a:lnTo>
                    <a:cubicBezTo>
                      <a:pt x="559714" y="462152"/>
                      <a:pt x="1363922" y="0"/>
                      <a:pt x="227607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sp>
            <p:nvSpPr>
              <p:cNvPr id="4" name="任意多边形: 形状 3"/>
              <p:cNvSpPr/>
              <p:nvPr userDrawn="1"/>
            </p:nvSpPr>
            <p:spPr>
              <a:xfrm>
                <a:off x="7087607" y="3833643"/>
                <a:ext cx="4123318" cy="2243152"/>
              </a:xfrm>
              <a:custGeom>
                <a:avLst/>
                <a:gdLst>
                  <a:gd name="connsiteX0" fmla="*/ 2866764 w 4123318"/>
                  <a:gd name="connsiteY0" fmla="*/ 0 h 2243152"/>
                  <a:gd name="connsiteX1" fmla="*/ 4017841 w 4123318"/>
                  <a:gd name="connsiteY1" fmla="*/ 232392 h 2243152"/>
                  <a:gd name="connsiteX2" fmla="*/ 4123318 w 4123318"/>
                  <a:gd name="connsiteY2" fmla="*/ 283203 h 2243152"/>
                  <a:gd name="connsiteX3" fmla="*/ 4123318 w 4123318"/>
                  <a:gd name="connsiteY3" fmla="*/ 2130973 h 2243152"/>
                  <a:gd name="connsiteX4" fmla="*/ 4011139 w 4123318"/>
                  <a:gd name="connsiteY4" fmla="*/ 2243152 h 2243152"/>
                  <a:gd name="connsiteX5" fmla="*/ 0 w 4123318"/>
                  <a:gd name="connsiteY5" fmla="*/ 2243152 h 2243152"/>
                  <a:gd name="connsiteX6" fmla="*/ 42511 w 4123318"/>
                  <a:gd name="connsiteY6" fmla="*/ 2077822 h 2243152"/>
                  <a:gd name="connsiteX7" fmla="*/ 2866764 w 4123318"/>
                  <a:gd name="connsiteY7" fmla="*/ 0 h 224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23318" h="2243152">
                    <a:moveTo>
                      <a:pt x="2866764" y="0"/>
                    </a:moveTo>
                    <a:cubicBezTo>
                      <a:pt x="3275069" y="0"/>
                      <a:pt x="3664046" y="82749"/>
                      <a:pt x="4017841" y="232392"/>
                    </a:cubicBezTo>
                    <a:lnTo>
                      <a:pt x="4123318" y="283203"/>
                    </a:lnTo>
                    <a:lnTo>
                      <a:pt x="4123318" y="2130973"/>
                    </a:lnTo>
                    <a:cubicBezTo>
                      <a:pt x="4123318" y="2192928"/>
                      <a:pt x="4073094" y="2243152"/>
                      <a:pt x="4011139" y="2243152"/>
                    </a:cubicBezTo>
                    <a:lnTo>
                      <a:pt x="0" y="2243152"/>
                    </a:lnTo>
                    <a:lnTo>
                      <a:pt x="42511" y="2077822"/>
                    </a:lnTo>
                    <a:cubicBezTo>
                      <a:pt x="416927" y="874037"/>
                      <a:pt x="1539774" y="0"/>
                      <a:pt x="286676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grpSp>
        <p:sp>
          <p:nvSpPr>
            <p:cNvPr id="7" name="任意多边形: 形状 6"/>
            <p:cNvSpPr/>
            <p:nvPr userDrawn="1"/>
          </p:nvSpPr>
          <p:spPr>
            <a:xfrm>
              <a:off x="8750710" y="40165"/>
              <a:ext cx="1920293" cy="550384"/>
            </a:xfrm>
            <a:custGeom>
              <a:avLst/>
              <a:gdLst>
                <a:gd name="connsiteX0" fmla="*/ 2276070 w 4552140"/>
                <a:gd name="connsiteY0" fmla="*/ 0 h 1304706"/>
                <a:gd name="connsiteX1" fmla="*/ 4467312 w 4552140"/>
                <a:gd name="connsiteY1" fmla="*/ 1165074 h 1304706"/>
                <a:gd name="connsiteX2" fmla="*/ 4552140 w 4552140"/>
                <a:gd name="connsiteY2" fmla="*/ 1304706 h 1304706"/>
                <a:gd name="connsiteX3" fmla="*/ 0 w 4552140"/>
                <a:gd name="connsiteY3" fmla="*/ 1304706 h 1304706"/>
                <a:gd name="connsiteX4" fmla="*/ 84829 w 4552140"/>
                <a:gd name="connsiteY4" fmla="*/ 1165074 h 1304706"/>
                <a:gd name="connsiteX5" fmla="*/ 2276070 w 4552140"/>
                <a:gd name="connsiteY5" fmla="*/ 0 h 130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2140" h="1304706">
                  <a:moveTo>
                    <a:pt x="2276070" y="0"/>
                  </a:moveTo>
                  <a:cubicBezTo>
                    <a:pt x="3188219" y="0"/>
                    <a:pt x="3992427" y="462152"/>
                    <a:pt x="4467312" y="1165074"/>
                  </a:cubicBezTo>
                  <a:lnTo>
                    <a:pt x="4552140" y="1304706"/>
                  </a:lnTo>
                  <a:lnTo>
                    <a:pt x="0" y="1304706"/>
                  </a:lnTo>
                  <a:lnTo>
                    <a:pt x="84829" y="1165074"/>
                  </a:lnTo>
                  <a:cubicBezTo>
                    <a:pt x="559714" y="462152"/>
                    <a:pt x="1363922" y="0"/>
                    <a:pt x="2276070" y="0"/>
                  </a:cubicBezTo>
                  <a:close/>
                </a:path>
              </a:pathLst>
            </a:cu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任意多边形: 形状 1"/>
          <p:cNvSpPr/>
          <p:nvPr userDrawn="1"/>
        </p:nvSpPr>
        <p:spPr>
          <a:xfrm>
            <a:off x="0" y="1485146"/>
            <a:ext cx="12192000" cy="4944715"/>
          </a:xfrm>
          <a:custGeom>
            <a:avLst/>
            <a:gdLst>
              <a:gd name="connsiteX0" fmla="*/ 6096000 w 12192000"/>
              <a:gd name="connsiteY0" fmla="*/ 0 h 4944715"/>
              <a:gd name="connsiteX1" fmla="*/ 11775918 w 12192000"/>
              <a:gd name="connsiteY1" fmla="*/ 1585811 h 4944715"/>
              <a:gd name="connsiteX2" fmla="*/ 12192000 w 12192000"/>
              <a:gd name="connsiteY2" fmla="*/ 1852557 h 4944715"/>
              <a:gd name="connsiteX3" fmla="*/ 12192000 w 12192000"/>
              <a:gd name="connsiteY3" fmla="*/ 4944715 h 4944715"/>
              <a:gd name="connsiteX4" fmla="*/ 0 w 12192000"/>
              <a:gd name="connsiteY4" fmla="*/ 4944715 h 4944715"/>
              <a:gd name="connsiteX5" fmla="*/ 0 w 12192000"/>
              <a:gd name="connsiteY5" fmla="*/ 1852557 h 4944715"/>
              <a:gd name="connsiteX6" fmla="*/ 416082 w 12192000"/>
              <a:gd name="connsiteY6" fmla="*/ 1585811 h 4944715"/>
              <a:gd name="connsiteX7" fmla="*/ 6096000 w 12192000"/>
              <a:gd name="connsiteY7" fmla="*/ 0 h 494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944715">
                <a:moveTo>
                  <a:pt x="6096000" y="0"/>
                </a:moveTo>
                <a:cubicBezTo>
                  <a:pt x="8175547" y="0"/>
                  <a:pt x="10119745" y="579496"/>
                  <a:pt x="11775918" y="1585811"/>
                </a:cubicBezTo>
                <a:lnTo>
                  <a:pt x="12192000" y="1852557"/>
                </a:lnTo>
                <a:lnTo>
                  <a:pt x="12192000" y="4944715"/>
                </a:lnTo>
                <a:lnTo>
                  <a:pt x="0" y="4944715"/>
                </a:lnTo>
                <a:lnTo>
                  <a:pt x="0" y="1852557"/>
                </a:lnTo>
                <a:lnTo>
                  <a:pt x="416082" y="1585811"/>
                </a:lnTo>
                <a:cubicBezTo>
                  <a:pt x="2072256" y="579496"/>
                  <a:pt x="4016454" y="0"/>
                  <a:pt x="6096000" y="0"/>
                </a:cubicBezTo>
                <a:close/>
              </a:path>
            </a:pathLst>
          </a:custGeom>
          <a:solidFill>
            <a:schemeClr val="accent1">
              <a:lumMod val="10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sp>
        <p:nvSpPr>
          <p:cNvPr id="3" name="任意多边形: 形状 2"/>
          <p:cNvSpPr/>
          <p:nvPr userDrawn="1"/>
        </p:nvSpPr>
        <p:spPr>
          <a:xfrm>
            <a:off x="0" y="1913286"/>
            <a:ext cx="12192000" cy="4944715"/>
          </a:xfrm>
          <a:custGeom>
            <a:avLst/>
            <a:gdLst>
              <a:gd name="connsiteX0" fmla="*/ 6096000 w 12192000"/>
              <a:gd name="connsiteY0" fmla="*/ 0 h 4944715"/>
              <a:gd name="connsiteX1" fmla="*/ 11775918 w 12192000"/>
              <a:gd name="connsiteY1" fmla="*/ 1585811 h 4944715"/>
              <a:gd name="connsiteX2" fmla="*/ 12192000 w 12192000"/>
              <a:gd name="connsiteY2" fmla="*/ 1852557 h 4944715"/>
              <a:gd name="connsiteX3" fmla="*/ 12192000 w 12192000"/>
              <a:gd name="connsiteY3" fmla="*/ 4944715 h 4944715"/>
              <a:gd name="connsiteX4" fmla="*/ 0 w 12192000"/>
              <a:gd name="connsiteY4" fmla="*/ 4944715 h 4944715"/>
              <a:gd name="connsiteX5" fmla="*/ 0 w 12192000"/>
              <a:gd name="connsiteY5" fmla="*/ 1852557 h 4944715"/>
              <a:gd name="connsiteX6" fmla="*/ 416082 w 12192000"/>
              <a:gd name="connsiteY6" fmla="*/ 1585811 h 4944715"/>
              <a:gd name="connsiteX7" fmla="*/ 6096000 w 12192000"/>
              <a:gd name="connsiteY7" fmla="*/ 0 h 494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944715">
                <a:moveTo>
                  <a:pt x="6096000" y="0"/>
                </a:moveTo>
                <a:cubicBezTo>
                  <a:pt x="8175547" y="0"/>
                  <a:pt x="10119745" y="579496"/>
                  <a:pt x="11775918" y="1585811"/>
                </a:cubicBezTo>
                <a:lnTo>
                  <a:pt x="12192000" y="1852557"/>
                </a:lnTo>
                <a:lnTo>
                  <a:pt x="12192000" y="4944715"/>
                </a:lnTo>
                <a:lnTo>
                  <a:pt x="0" y="4944715"/>
                </a:lnTo>
                <a:lnTo>
                  <a:pt x="0" y="1852557"/>
                </a:lnTo>
                <a:lnTo>
                  <a:pt x="416082" y="1585811"/>
                </a:lnTo>
                <a:cubicBezTo>
                  <a:pt x="2072256" y="579496"/>
                  <a:pt x="4016454" y="0"/>
                  <a:pt x="6096000" y="0"/>
                </a:cubicBezTo>
                <a:close/>
              </a:path>
            </a:pathLst>
          </a:custGeom>
          <a:gradFill flip="none" rotWithShape="1">
            <a:gsLst>
              <a:gs pos="0">
                <a:schemeClr val="accent1">
                  <a:lumMod val="100000"/>
                </a:schemeClr>
              </a:gs>
              <a:gs pos="83000">
                <a:schemeClr val="accent1">
                  <a:lumMod val="100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Medium" panose="020B0600000000000000" charset="-122"/>
            </a:endParaRPr>
          </a:p>
        </p:txBody>
      </p:sp>
      <p:sp>
        <p:nvSpPr>
          <p:cNvPr id="4" name="矩形 3"/>
          <p:cNvSpPr/>
          <p:nvPr userDrawn="1"/>
        </p:nvSpPr>
        <p:spPr>
          <a:xfrm>
            <a:off x="0" y="0"/>
            <a:ext cx="12192000" cy="240846"/>
          </a:xfrm>
          <a:prstGeom prst="rect">
            <a:avLst/>
          </a:prstGeom>
          <a:gradFill flip="none" rotWithShape="1">
            <a:gsLst>
              <a:gs pos="0">
                <a:schemeClr val="accent1">
                  <a:lumMod val="100000"/>
                </a:schemeClr>
              </a:gs>
              <a:gs pos="59000">
                <a:schemeClr val="accent1">
                  <a:lumMod val="10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Medium" panose="020B0600000000000000" charset="-122"/>
                <a:ea typeface="思源黑体 Medium" panose="020B0600000000000000" charset="-122"/>
                <a:cs typeface="思源黑体 Medium" panose="020B0600000000000000" charset="-122"/>
              </a:defRPr>
            </a:lvl1pPr>
          </a:lstStyle>
          <a:p>
            <a:fld id="{04F748FB-494E-42FB-ABBA-89D55F873270}" type="datetimeFigureOut">
              <a:rPr lang="zh-CN" altLang="en-US" smtClean="0"/>
              <a:t>2026/3/20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Medium" panose="020B0600000000000000" charset="-122"/>
                <a:ea typeface="思源黑体 Medium" panose="020B0600000000000000" charset="-122"/>
                <a:cs typeface="思源黑体 Medium" panose="020B06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Medium" panose="020B0600000000000000" charset="-122"/>
                <a:ea typeface="思源黑体 Medium" panose="020B0600000000000000" charset="-122"/>
                <a:cs typeface="思源黑体 Medium" panose="020B0600000000000000" charset="-122"/>
              </a:defRPr>
            </a:lvl1pPr>
          </a:lstStyle>
          <a:p>
            <a:fld id="{C79D767E-8DFE-4355-BD5D-C079B9674A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思源黑体 Medium" panose="020B0600000000000000" charset="-122"/>
          <a:ea typeface="思源黑体 Medium" panose="020B0600000000000000" charset="-122"/>
          <a:cs typeface="思源黑体 Medium" panose="020B06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Medium" panose="020B0600000000000000" charset="-122"/>
          <a:ea typeface="思源黑体 Medium" panose="020B0600000000000000" charset="-122"/>
          <a:cs typeface="思源黑体 Medium" panose="020B06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Medium" panose="020B0600000000000000" charset="-122"/>
          <a:ea typeface="思源黑体 Medium" panose="020B0600000000000000" charset="-122"/>
          <a:cs typeface="思源黑体 Medium" panose="020B06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Medium" panose="020B0600000000000000" charset="-122"/>
          <a:ea typeface="思源黑体 Medium" panose="020B0600000000000000" charset="-122"/>
          <a:cs typeface="思源黑体 Medium" panose="020B06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Medium" panose="020B0600000000000000" charset="-122"/>
          <a:ea typeface="思源黑体 Medium" panose="020B0600000000000000" charset="-122"/>
          <a:cs typeface="思源黑体 Medium" panose="020B06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Medium" panose="020B0600000000000000" charset="-122"/>
          <a:ea typeface="思源黑体 Medium" panose="020B0600000000000000" charset="-122"/>
          <a:cs typeface="思源黑体 Medium" panose="020B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p:cNvSpPr/>
          <p:nvPr/>
        </p:nvSpPr>
        <p:spPr>
          <a:xfrm>
            <a:off x="3931434" y="5182703"/>
            <a:ext cx="4329133" cy="380301"/>
          </a:xfrm>
          <a:prstGeom prst="roundRect">
            <a:avLst>
              <a:gd name="adj" fmla="val 50000"/>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E0DB"/>
              </a:solidFill>
              <a:effectLst/>
              <a:uLnTx/>
              <a:uFillTx/>
              <a:cs typeface="+mn-ea"/>
              <a:sym typeface="+mn-lt"/>
            </a:endParaRPr>
          </a:p>
        </p:txBody>
      </p:sp>
      <p:sp>
        <p:nvSpPr>
          <p:cNvPr id="12" name="文本框 11"/>
          <p:cNvSpPr txBox="1"/>
          <p:nvPr/>
        </p:nvSpPr>
        <p:spPr>
          <a:xfrm>
            <a:off x="4838730" y="5249981"/>
            <a:ext cx="2514542" cy="245745"/>
          </a:xfrm>
          <a:prstGeom prst="rect">
            <a:avLst/>
          </a:prstGeom>
          <a:noFill/>
        </p:spPr>
        <p:txBody>
          <a:bodyPr wrap="square" lIns="0" tIns="0" rIns="0" bIns="0"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汇报</a:t>
            </a:r>
            <a:r>
              <a:rPr kumimoji="0" lang="zh-CN" altLang="en-US" sz="1600" b="0" i="0" u="none" strike="noStrike" kern="1200" cap="none" spc="0" normalizeH="0" baseline="0" noProof="0">
                <a:ln>
                  <a:noFill/>
                </a:ln>
                <a:solidFill>
                  <a:srgbClr val="FFFFFF"/>
                </a:solidFill>
                <a:effectLst/>
                <a:uLnTx/>
                <a:uFillTx/>
                <a:cs typeface="+mn-ea"/>
                <a:sym typeface="+mn-lt"/>
              </a:rPr>
              <a:t>人：陈哲</a:t>
            </a: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3" name="文本框 12"/>
          <p:cNvSpPr txBox="1"/>
          <p:nvPr/>
        </p:nvSpPr>
        <p:spPr>
          <a:xfrm>
            <a:off x="1369060" y="2033270"/>
            <a:ext cx="9453880" cy="953135"/>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65A5A">
                    <a:lumMod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Learning Semantic-level Multi-modal Alignment</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65A5A">
                    <a:lumMod val="10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Transformer for RGB-D Co-salient Object Detection</a:t>
            </a:r>
          </a:p>
        </p:txBody>
      </p:sp>
      <p:sp>
        <p:nvSpPr>
          <p:cNvPr id="2" name="文本框 1"/>
          <p:cNvSpPr txBox="1"/>
          <p:nvPr/>
        </p:nvSpPr>
        <p:spPr>
          <a:xfrm>
            <a:off x="1694815" y="3627120"/>
            <a:ext cx="8803005" cy="368300"/>
          </a:xfrm>
          <a:prstGeom prst="rect">
            <a:avLst/>
          </a:prstGeom>
          <a:noFill/>
        </p:spPr>
        <p:txBody>
          <a:bodyPr wrap="square" rtlCol="0">
            <a:spAutoFit/>
          </a:bodyPr>
          <a:lstStyle/>
          <a:p>
            <a:r>
              <a:rPr lang="en-US" altLang="zh-CN"/>
              <a:t>Yang Wu, Shenglong Hu, Kaihua Zhang, Lingyan Liang, Yaqian Zhao, Gang Dong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矩形: 圆角 7"/>
          <p:cNvSpPr/>
          <p:nvPr>
            <p:custDataLst>
              <p:tags r:id="rId1"/>
            </p:custDataLst>
          </p:nvPr>
        </p:nvSpPr>
        <p:spPr>
          <a:xfrm>
            <a:off x="1296251" y="2005614"/>
            <a:ext cx="1611149" cy="468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E0DB"/>
              </a:solidFill>
              <a:effectLst/>
              <a:uLnTx/>
              <a:uFillTx/>
              <a:cs typeface="+mn-ea"/>
              <a:sym typeface="+mn-lt"/>
            </a:endParaRPr>
          </a:p>
        </p:txBody>
      </p:sp>
      <p:sp>
        <p:nvSpPr>
          <p:cNvPr id="9" name="矩形: 圆角 8"/>
          <p:cNvSpPr/>
          <p:nvPr>
            <p:custDataLst>
              <p:tags r:id="rId2"/>
            </p:custDataLst>
          </p:nvPr>
        </p:nvSpPr>
        <p:spPr>
          <a:xfrm>
            <a:off x="1252436" y="4104769"/>
            <a:ext cx="1611149" cy="468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E0DB"/>
              </a:solidFill>
              <a:effectLst/>
              <a:uLnTx/>
              <a:uFillTx/>
              <a:cs typeface="+mn-ea"/>
              <a:sym typeface="+mn-lt"/>
            </a:endParaRPr>
          </a:p>
        </p:txBody>
      </p:sp>
      <p:sp>
        <p:nvSpPr>
          <p:cNvPr id="10" name="矩形: 圆角 9"/>
          <p:cNvSpPr/>
          <p:nvPr>
            <p:custDataLst>
              <p:tags r:id="rId3"/>
            </p:custDataLst>
          </p:nvPr>
        </p:nvSpPr>
        <p:spPr>
          <a:xfrm>
            <a:off x="7321131" y="2009749"/>
            <a:ext cx="1611149" cy="468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E0DB"/>
              </a:solidFill>
              <a:effectLst/>
              <a:uLnTx/>
              <a:uFillTx/>
              <a:cs typeface="+mn-ea"/>
              <a:sym typeface="+mn-lt"/>
            </a:endParaRPr>
          </a:p>
        </p:txBody>
      </p:sp>
      <p:sp>
        <p:nvSpPr>
          <p:cNvPr id="11" name="文本框 10"/>
          <p:cNvSpPr txBox="1"/>
          <p:nvPr>
            <p:custDataLst>
              <p:tags r:id="rId4"/>
            </p:custDataLst>
          </p:nvPr>
        </p:nvSpPr>
        <p:spPr>
          <a:xfrm>
            <a:off x="3041482" y="2008782"/>
            <a:ext cx="2495718" cy="46166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400">
                <a:solidFill>
                  <a:srgbClr val="FFFFFF"/>
                </a:solidFill>
                <a:cs typeface="+mn-ea"/>
                <a:sym typeface="+mn-lt"/>
              </a:rPr>
              <a:t>研究背景和目的</a:t>
            </a:r>
            <a:endParaRPr kumimoji="0" lang="zh-CN" altLang="en-US" sz="2400" b="0" i="0" u="none" strike="noStrike" kern="1200" cap="none" spc="0" normalizeH="0" baseline="0" noProof="0" dirty="0">
              <a:ln>
                <a:noFill/>
              </a:ln>
              <a:solidFill>
                <a:srgbClr val="FFFFFF"/>
              </a:solidFill>
              <a:effectLst/>
              <a:uLnTx/>
              <a:uFillTx/>
              <a:cs typeface="+mn-ea"/>
              <a:sym typeface="+mn-lt"/>
            </a:endParaRPr>
          </a:p>
        </p:txBody>
      </p:sp>
      <p:sp>
        <p:nvSpPr>
          <p:cNvPr id="12" name="文本框 11"/>
          <p:cNvSpPr txBox="1"/>
          <p:nvPr>
            <p:custDataLst>
              <p:tags r:id="rId5"/>
            </p:custDataLst>
          </p:nvPr>
        </p:nvSpPr>
        <p:spPr>
          <a:xfrm>
            <a:off x="1503568" y="2005607"/>
            <a:ext cx="720874"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65A5A">
                    <a:lumMod val="100000"/>
                  </a:srgbClr>
                </a:solidFill>
                <a:effectLst/>
                <a:uLnTx/>
                <a:uFillTx/>
                <a:cs typeface="+mn-ea"/>
                <a:sym typeface="+mn-lt"/>
              </a:rPr>
              <a:t>1</a:t>
            </a:r>
          </a:p>
        </p:txBody>
      </p:sp>
      <p:sp>
        <p:nvSpPr>
          <p:cNvPr id="13" name="文本框 12"/>
          <p:cNvSpPr txBox="1"/>
          <p:nvPr>
            <p:custDataLst>
              <p:tags r:id="rId6"/>
            </p:custDataLst>
          </p:nvPr>
        </p:nvSpPr>
        <p:spPr>
          <a:xfrm>
            <a:off x="2997667" y="4107937"/>
            <a:ext cx="1829329"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研究方法</a:t>
            </a:r>
          </a:p>
        </p:txBody>
      </p:sp>
      <p:sp>
        <p:nvSpPr>
          <p:cNvPr id="14" name="文本框 13"/>
          <p:cNvSpPr txBox="1"/>
          <p:nvPr>
            <p:custDataLst>
              <p:tags r:id="rId7"/>
            </p:custDataLst>
          </p:nvPr>
        </p:nvSpPr>
        <p:spPr>
          <a:xfrm>
            <a:off x="1459753" y="4104762"/>
            <a:ext cx="720874"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65A5A">
                    <a:lumMod val="100000"/>
                  </a:srgbClr>
                </a:solidFill>
                <a:effectLst/>
                <a:uLnTx/>
                <a:uFillTx/>
                <a:cs typeface="+mn-ea"/>
                <a:sym typeface="+mn-lt"/>
              </a:rPr>
              <a:t>2</a:t>
            </a:r>
          </a:p>
        </p:txBody>
      </p:sp>
      <p:sp>
        <p:nvSpPr>
          <p:cNvPr id="15" name="文本框 14"/>
          <p:cNvSpPr txBox="1"/>
          <p:nvPr>
            <p:custDataLst>
              <p:tags r:id="rId8"/>
            </p:custDataLst>
          </p:nvPr>
        </p:nvSpPr>
        <p:spPr>
          <a:xfrm>
            <a:off x="9066362" y="2012917"/>
            <a:ext cx="1829329"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效果分析</a:t>
            </a:r>
          </a:p>
        </p:txBody>
      </p:sp>
      <p:sp>
        <p:nvSpPr>
          <p:cNvPr id="16" name="文本框 15"/>
          <p:cNvSpPr txBox="1"/>
          <p:nvPr>
            <p:custDataLst>
              <p:tags r:id="rId9"/>
            </p:custDataLst>
          </p:nvPr>
        </p:nvSpPr>
        <p:spPr>
          <a:xfrm>
            <a:off x="7528448" y="2009742"/>
            <a:ext cx="720874"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65A5A">
                    <a:lumMod val="100000"/>
                  </a:srgbClr>
                </a:solidFill>
                <a:effectLst/>
                <a:uLnTx/>
                <a:uFillTx/>
                <a:cs typeface="+mn-ea"/>
                <a:sym typeface="+mn-lt"/>
              </a:rPr>
              <a:t>3</a:t>
            </a:r>
          </a:p>
        </p:txBody>
      </p:sp>
      <p:sp>
        <p:nvSpPr>
          <p:cNvPr id="17" name="矩形: 圆角 16"/>
          <p:cNvSpPr/>
          <p:nvPr>
            <p:custDataLst>
              <p:tags r:id="rId10"/>
            </p:custDataLst>
          </p:nvPr>
        </p:nvSpPr>
        <p:spPr>
          <a:xfrm>
            <a:off x="7321189" y="4110638"/>
            <a:ext cx="1611149" cy="468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E0DB"/>
              </a:solidFill>
              <a:effectLst/>
              <a:uLnTx/>
              <a:uFillTx/>
              <a:cs typeface="+mn-ea"/>
              <a:sym typeface="+mn-lt"/>
            </a:endParaRPr>
          </a:p>
        </p:txBody>
      </p:sp>
      <p:sp>
        <p:nvSpPr>
          <p:cNvPr id="20" name="文本框 19"/>
          <p:cNvSpPr txBox="1"/>
          <p:nvPr>
            <p:custDataLst>
              <p:tags r:id="rId11"/>
            </p:custDataLst>
          </p:nvPr>
        </p:nvSpPr>
        <p:spPr>
          <a:xfrm>
            <a:off x="9066420" y="4113806"/>
            <a:ext cx="1829329"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创新想法</a:t>
            </a:r>
          </a:p>
        </p:txBody>
      </p:sp>
      <p:sp>
        <p:nvSpPr>
          <p:cNvPr id="21" name="文本框 20"/>
          <p:cNvSpPr txBox="1"/>
          <p:nvPr>
            <p:custDataLst>
              <p:tags r:id="rId12"/>
            </p:custDataLst>
          </p:nvPr>
        </p:nvSpPr>
        <p:spPr>
          <a:xfrm>
            <a:off x="7528506" y="4110631"/>
            <a:ext cx="720874"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65A5A">
                    <a:lumMod val="100000"/>
                  </a:srgbClr>
                </a:solidFill>
                <a:effectLst/>
                <a:uLnTx/>
                <a:uFillTx/>
                <a:cs typeface="+mn-ea"/>
                <a:sym typeface="+mn-lt"/>
              </a:rPr>
              <a:t>4</a:t>
            </a:r>
          </a:p>
        </p:txBody>
      </p:sp>
      <p:grpSp>
        <p:nvGrpSpPr>
          <p:cNvPr id="28" name="组合 27"/>
          <p:cNvGrpSpPr/>
          <p:nvPr/>
        </p:nvGrpSpPr>
        <p:grpSpPr>
          <a:xfrm>
            <a:off x="4602480" y="542087"/>
            <a:ext cx="2987040" cy="706755"/>
            <a:chOff x="1409700" y="3075056"/>
            <a:chExt cx="2987040" cy="706755"/>
          </a:xfrm>
        </p:grpSpPr>
        <p:sp>
          <p:nvSpPr>
            <p:cNvPr id="29" name="文本框 28"/>
            <p:cNvSpPr txBox="1"/>
            <p:nvPr/>
          </p:nvSpPr>
          <p:spPr>
            <a:xfrm>
              <a:off x="1409700" y="3075056"/>
              <a:ext cx="2987040" cy="706755"/>
            </a:xfrm>
            <a:prstGeom prst="rect">
              <a:avLst/>
            </a:prstGeom>
            <a:noFill/>
          </p:spPr>
          <p:txBody>
            <a:bodyPr wrap="square" lIns="0" rIns="0" rtlCol="0">
              <a:spAutoFit/>
            </a:bodyPr>
            <a:lstStyle>
              <a:defPPr>
                <a:defRPr lang="zh-CN"/>
              </a:defPPr>
              <a:lvl1pPr algn="dist">
                <a:defRPr sz="6600" b="1">
                  <a:solidFill>
                    <a:schemeClr val="bg1"/>
                  </a:solidFill>
                  <a:latin typeface="微软雅黑" panose="020B0503020204020204" pitchFamily="34" charset="-122"/>
                  <a:ea typeface="微软雅黑" panose="020B0503020204020204" pitchFamily="34" charset="-122"/>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FFFF"/>
                  </a:solidFill>
                  <a:effectLst/>
                  <a:uLnTx/>
                  <a:uFillTx/>
                  <a:latin typeface="+mn-lt"/>
                  <a:ea typeface="+mn-ea"/>
                  <a:cs typeface="+mn-ea"/>
                  <a:sym typeface="+mn-lt"/>
                </a:rPr>
                <a:t>-C</a:t>
              </a:r>
              <a:r>
                <a:rPr kumimoji="0" lang="en-US" altLang="zh-CN" sz="1800" b="1" i="0" u="none" strike="noStrike" kern="1200" cap="none" spc="0" normalizeH="0" baseline="0" noProof="0" dirty="0">
                  <a:ln>
                    <a:noFill/>
                  </a:ln>
                  <a:solidFill>
                    <a:srgbClr val="FFFFFF"/>
                  </a:solidFill>
                  <a:effectLst/>
                  <a:uLnTx/>
                  <a:uFillTx/>
                  <a:latin typeface="+mn-lt"/>
                  <a:ea typeface="+mn-ea"/>
                  <a:cs typeface="+mn-ea"/>
                  <a:sym typeface="+mn-lt"/>
                </a:rPr>
                <a:t>ONT</a:t>
              </a:r>
              <a:r>
                <a:rPr kumimoji="0" lang="en-US" altLang="zh-CN" sz="4000" b="1" i="0" u="none" strike="noStrike" kern="1200" cap="none" spc="0" normalizeH="0" baseline="0" noProof="0" dirty="0">
                  <a:ln>
                    <a:noFill/>
                  </a:ln>
                  <a:solidFill>
                    <a:srgbClr val="FFFFFF"/>
                  </a:solidFill>
                  <a:effectLst/>
                  <a:uLnTx/>
                  <a:uFillTx/>
                  <a:latin typeface="+mn-lt"/>
                  <a:ea typeface="+mn-ea"/>
                  <a:cs typeface="+mn-ea"/>
                  <a:sym typeface="+mn-lt"/>
                </a:rPr>
                <a:t>ENTS-</a:t>
              </a:r>
            </a:p>
          </p:txBody>
        </p:sp>
        <p:sp>
          <p:nvSpPr>
            <p:cNvPr id="30" name="文本框 29"/>
            <p:cNvSpPr txBox="1"/>
            <p:nvPr/>
          </p:nvSpPr>
          <p:spPr>
            <a:xfrm>
              <a:off x="2081978" y="3075056"/>
              <a:ext cx="544330" cy="398780"/>
            </a:xfrm>
            <a:prstGeom prst="rect">
              <a:avLst/>
            </a:prstGeom>
            <a:noFill/>
          </p:spPr>
          <p:txBody>
            <a:bodyPr wrap="square" lIns="0" rIns="0" rtlCol="0">
              <a:spAutoFit/>
            </a:bodyPr>
            <a:lstStyle>
              <a:defPPr>
                <a:defRPr lang="zh-CN"/>
              </a:defPPr>
              <a:lvl1pPr algn="dist">
                <a:defRPr sz="6600" b="1">
                  <a:solidFill>
                    <a:schemeClr val="bg1"/>
                  </a:solidFill>
                  <a:latin typeface="微软雅黑" panose="020B0503020204020204" pitchFamily="34" charset="-122"/>
                  <a:ea typeface="微软雅黑" panose="020B0503020204020204" pitchFamily="34" charset="-122"/>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mn-lt"/>
                  <a:ea typeface="+mn-ea"/>
                  <a:cs typeface="+mn-ea"/>
                  <a:sym typeface="+mn-lt"/>
                </a:rPr>
                <a:t>目录</a:t>
              </a:r>
            </a:p>
          </p:txBody>
        </p:sp>
      </p:grpSp>
      <p:cxnSp>
        <p:nvCxnSpPr>
          <p:cNvPr id="31" name="直接连接符 30"/>
          <p:cNvCxnSpPr/>
          <p:nvPr>
            <p:custDataLst>
              <p:tags r:id="rId13"/>
            </p:custDataLst>
          </p:nvPr>
        </p:nvCxnSpPr>
        <p:spPr>
          <a:xfrm>
            <a:off x="6096000" y="2005606"/>
            <a:ext cx="0" cy="272569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 name="直接箭头连接符 1"/>
          <p:cNvCxnSpPr/>
          <p:nvPr>
            <p:custDataLst>
              <p:tags r:id="rId14"/>
            </p:custDataLst>
          </p:nvPr>
        </p:nvCxnSpPr>
        <p:spPr>
          <a:xfrm>
            <a:off x="2022475" y="2235835"/>
            <a:ext cx="584200" cy="0"/>
          </a:xfrm>
          <a:prstGeom prst="straightConnector1">
            <a:avLst/>
          </a:prstGeom>
          <a:ln>
            <a:solidFill>
              <a:schemeClr val="accent1">
                <a:lumMod val="10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 name="直接箭头连接符 2"/>
          <p:cNvCxnSpPr/>
          <p:nvPr>
            <p:custDataLst>
              <p:tags r:id="rId15"/>
            </p:custDataLst>
          </p:nvPr>
        </p:nvCxnSpPr>
        <p:spPr>
          <a:xfrm>
            <a:off x="1978660" y="4334950"/>
            <a:ext cx="584200" cy="0"/>
          </a:xfrm>
          <a:prstGeom prst="straightConnector1">
            <a:avLst/>
          </a:prstGeom>
          <a:ln>
            <a:solidFill>
              <a:schemeClr val="accent1">
                <a:lumMod val="10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custDataLst>
              <p:tags r:id="rId16"/>
            </p:custDataLst>
          </p:nvPr>
        </p:nvCxnSpPr>
        <p:spPr>
          <a:xfrm>
            <a:off x="8047355" y="2239930"/>
            <a:ext cx="584200" cy="0"/>
          </a:xfrm>
          <a:prstGeom prst="straightConnector1">
            <a:avLst/>
          </a:prstGeom>
          <a:ln>
            <a:solidFill>
              <a:schemeClr val="accent1">
                <a:lumMod val="10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custDataLst>
              <p:tags r:id="rId17"/>
            </p:custDataLst>
          </p:nvPr>
        </p:nvCxnSpPr>
        <p:spPr>
          <a:xfrm>
            <a:off x="8051800" y="4345305"/>
            <a:ext cx="584200" cy="0"/>
          </a:xfrm>
          <a:prstGeom prst="straightConnector1">
            <a:avLst/>
          </a:prstGeom>
          <a:ln>
            <a:solidFill>
              <a:schemeClr val="accent1">
                <a:lumMod val="100000"/>
              </a:schemeClr>
            </a:solidFil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3" name="组合 32"/>
          <p:cNvGrpSpPr/>
          <p:nvPr/>
        </p:nvGrpSpPr>
        <p:grpSpPr>
          <a:xfrm>
            <a:off x="0" y="1588770"/>
            <a:ext cx="12192000" cy="2775585"/>
            <a:chOff x="0" y="2985"/>
            <a:chExt cx="19200" cy="4371"/>
          </a:xfrm>
        </p:grpSpPr>
        <p:sp>
          <p:nvSpPr>
            <p:cNvPr id="26" name="文本框 25"/>
            <p:cNvSpPr txBox="1"/>
            <p:nvPr/>
          </p:nvSpPr>
          <p:spPr>
            <a:xfrm>
              <a:off x="0" y="3868"/>
              <a:ext cx="19200" cy="3488"/>
            </a:xfrm>
            <a:prstGeom prst="rect">
              <a:avLst/>
            </a:prstGeom>
            <a:noFill/>
          </p:spPr>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800" b="0" i="0" u="none" strike="noStrike" kern="1200" cap="none" spc="0" normalizeH="0" baseline="0" noProof="0">
                  <a:ln>
                    <a:noFill/>
                  </a:ln>
                  <a:solidFill>
                    <a:srgbClr val="FFFFFF"/>
                  </a:solidFill>
                  <a:effectLst/>
                  <a:uLnTx/>
                  <a:uFillTx/>
                  <a:cs typeface="+mn-ea"/>
                  <a:sym typeface="+mn-lt"/>
                </a:rPr>
                <a:t>研究背景和目的</a:t>
              </a:r>
            </a:p>
          </p:txBody>
        </p:sp>
        <p:sp>
          <p:nvSpPr>
            <p:cNvPr id="32" name="文本框 31"/>
            <p:cNvSpPr txBox="1"/>
            <p:nvPr/>
          </p:nvSpPr>
          <p:spPr>
            <a:xfrm>
              <a:off x="8707" y="2985"/>
              <a:ext cx="1785" cy="1599"/>
            </a:xfrm>
            <a:prstGeom prst="rect">
              <a:avLst/>
            </a:prstGeom>
            <a:noFill/>
          </p:spPr>
          <p:txBody>
            <a:bodyPr wrap="non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a:ln>
                    <a:noFill/>
                  </a:ln>
                  <a:solidFill>
                    <a:srgbClr val="FFFFFF">
                      <a:alpha val="70000"/>
                    </a:srgbClr>
                  </a:solidFill>
                  <a:effectLst/>
                  <a:uLnTx/>
                  <a:uFillTx/>
                  <a:cs typeface="+mn-ea"/>
                  <a:sym typeface="+mn-lt"/>
                </a:rPr>
                <a:t>01</a:t>
              </a:r>
            </a:p>
          </p:txBody>
        </p:sp>
      </p:grpSp>
      <p:cxnSp>
        <p:nvCxnSpPr>
          <p:cNvPr id="34" name="直接箭头连接符 33"/>
          <p:cNvCxnSpPr/>
          <p:nvPr/>
        </p:nvCxnSpPr>
        <p:spPr>
          <a:xfrm>
            <a:off x="6096000" y="4071620"/>
            <a:ext cx="0" cy="1102360"/>
          </a:xfrm>
          <a:prstGeom prst="straightConnector1">
            <a:avLst/>
          </a:prstGeom>
          <a:ln w="12700">
            <a:solidFill>
              <a:schemeClr val="bg1"/>
            </a:solidFill>
            <a:prstDash val="dash"/>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37673" y="64482"/>
            <a:ext cx="3298007" cy="461665"/>
          </a:xfrm>
          <a:prstGeom prst="rect">
            <a:avLst/>
          </a:prstGeom>
          <a:noFill/>
        </p:spPr>
        <p:txBody>
          <a:bodyPr wrap="square" rtlCol="0">
            <a:spAutoFit/>
          </a:bodyPr>
          <a:lstStyle>
            <a:defPPr>
              <a:defRPr lang="zh-CN"/>
            </a:defPPr>
            <a:lvl1pPr lvl="0">
              <a:defRPr sz="2400" spc="600">
                <a:solidFill>
                  <a:schemeClr val="bg1"/>
                </a:solidFill>
                <a:latin typeface="微软雅黑 Light" panose="020B0502040204020203" pitchFamily="34" charset="-122"/>
                <a:ea typeface="微软雅黑 Light" panose="020B0502040204020203" pitchFamily="34" charset="-122"/>
              </a:defRPr>
            </a:lvl1pPr>
          </a:lstStyle>
          <a:p>
            <a:pPr marL="342900" marR="0" lvl="0" indent="-342900" algn="l" defTabSz="914400" rtl="0" eaLnBrk="1" fontAlgn="auto" latinLnBrk="0" hangingPunct="1">
              <a:lnSpc>
                <a:spcPct val="100000"/>
              </a:lnSpc>
              <a:spcBef>
                <a:spcPts val="0"/>
              </a:spcBef>
              <a:spcAft>
                <a:spcPts val="0"/>
              </a:spcAft>
              <a:buClrTx/>
              <a:buSzTx/>
              <a:buFont typeface="思源黑体 Medium" panose="020B0600000000000000" charset="-122"/>
              <a:buChar char="•"/>
              <a:defRPr/>
            </a:pPr>
            <a:r>
              <a:rPr kumimoji="0" lang="zh-CN" altLang="en-US" sz="2400" i="0" u="none" strike="noStrike" kern="1200" cap="none" spc="600" normalizeH="0" baseline="0" noProof="0">
                <a:ln>
                  <a:noFill/>
                </a:ln>
                <a:solidFill>
                  <a:srgbClr val="FFFFFF"/>
                </a:solidFill>
                <a:effectLst/>
                <a:uLnTx/>
                <a:uFillTx/>
                <a:latin typeface="+mn-lt"/>
                <a:ea typeface="+mn-ea"/>
                <a:cs typeface="+mn-ea"/>
                <a:sym typeface="+mn-lt"/>
              </a:rPr>
              <a:t>研究背景和目的</a:t>
            </a:r>
          </a:p>
        </p:txBody>
      </p:sp>
      <p:sp>
        <p:nvSpPr>
          <p:cNvPr id="4" name="矩形 3" descr="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
          <p:cNvSpPr/>
          <p:nvPr>
            <p:custDataLst>
              <p:tags r:id="rId1"/>
            </p:custDataLst>
          </p:nvPr>
        </p:nvSpPr>
        <p:spPr>
          <a:xfrm>
            <a:off x="237673" y="922020"/>
            <a:ext cx="5308463" cy="5743495"/>
          </a:xfrm>
          <a:prstGeom prst="rect">
            <a:avLst/>
          </a:prstGeom>
        </p:spPr>
        <p:txBody>
          <a:bodyPr wrap="square">
            <a:spAutoFit/>
          </a:bodyPr>
          <a:lstStyle/>
          <a:p>
            <a:pPr marR="0">
              <a:lnSpc>
                <a:spcPct val="130000"/>
              </a:lnSpc>
              <a:spcBef>
                <a:spcPts val="0"/>
              </a:spcBef>
              <a:spcAft>
                <a:spcPts val="0"/>
              </a:spcAft>
            </a:pPr>
            <a:r>
              <a:rPr lang="zh-CN" altLang="en-US" dirty="0"/>
              <a:t>深度图中的对象间的低对比度通常会导致</a:t>
            </a:r>
            <a:r>
              <a:rPr lang="en-US" altLang="zh-CN" dirty="0"/>
              <a:t>RGB</a:t>
            </a:r>
            <a:r>
              <a:rPr lang="zh-CN" altLang="en-US" dirty="0"/>
              <a:t>显著区域和深度高亮区域之间的不对齐，从而导致模型性能下降。</a:t>
            </a:r>
            <a:endParaRPr lang="en-US" altLang="zh-CN" dirty="0"/>
          </a:p>
          <a:p>
            <a:pPr marR="0">
              <a:lnSpc>
                <a:spcPct val="130000"/>
              </a:lnSpc>
              <a:spcBef>
                <a:spcPts val="0"/>
              </a:spcBef>
              <a:spcAft>
                <a:spcPts val="0"/>
              </a:spcAft>
            </a:pPr>
            <a:endParaRPr lang="en-US" altLang="zh-CN" dirty="0"/>
          </a:p>
          <a:p>
            <a:pPr marR="0">
              <a:lnSpc>
                <a:spcPct val="130000"/>
              </a:lnSpc>
              <a:spcBef>
                <a:spcPts val="0"/>
              </a:spcBef>
              <a:spcAft>
                <a:spcPts val="0"/>
              </a:spcAft>
            </a:pPr>
            <a:r>
              <a:rPr lang="zh-CN" altLang="en-US" dirty="0"/>
              <a:t>以前的方法是简单和直接地从原始深度图和</a:t>
            </a:r>
            <a:r>
              <a:rPr lang="en-US" altLang="zh-CN" dirty="0"/>
              <a:t>RGB</a:t>
            </a:r>
            <a:r>
              <a:rPr lang="zh-CN" altLang="en-US" dirty="0"/>
              <a:t>数据中提取特征，然后进行融合，导致缺乏有效概括的能力，无法捕获高维语义信息。</a:t>
            </a:r>
            <a:endParaRPr lang="en-US" altLang="zh-CN" dirty="0"/>
          </a:p>
          <a:p>
            <a:pPr marR="0">
              <a:lnSpc>
                <a:spcPct val="130000"/>
              </a:lnSpc>
              <a:spcBef>
                <a:spcPts val="0"/>
              </a:spcBef>
              <a:spcAft>
                <a:spcPts val="0"/>
              </a:spcAft>
            </a:pPr>
            <a:endParaRPr lang="en-US" altLang="zh-CN" sz="1400" dirty="0">
              <a:solidFill>
                <a:schemeClr val="tx1">
                  <a:lumMod val="75000"/>
                  <a:lumOff val="25000"/>
                </a:schemeClr>
              </a:solidFill>
              <a:cs typeface="+mn-ea"/>
              <a:sym typeface="+mn-lt"/>
            </a:endParaRPr>
          </a:p>
          <a:p>
            <a:pPr marR="0">
              <a:lnSpc>
                <a:spcPct val="130000"/>
              </a:lnSpc>
              <a:spcBef>
                <a:spcPts val="0"/>
              </a:spcBef>
              <a:spcAft>
                <a:spcPts val="0"/>
              </a:spcAft>
            </a:pPr>
            <a:r>
              <a:rPr lang="zh-CN" altLang="en-US" dirty="0"/>
              <a:t>使用注意力机制的</a:t>
            </a:r>
            <a:r>
              <a:rPr lang="en-US" altLang="zh-CN" dirty="0" err="1"/>
              <a:t>CTNet</a:t>
            </a:r>
            <a:r>
              <a:rPr lang="zh-CN" altLang="en-US" dirty="0"/>
              <a:t>，直接从原始深度图和</a:t>
            </a:r>
            <a:r>
              <a:rPr lang="en-US" altLang="zh-CN" dirty="0"/>
              <a:t>RGB</a:t>
            </a:r>
            <a:r>
              <a:rPr lang="zh-CN" altLang="en-US" dirty="0"/>
              <a:t>中提取特征，忽略了深度图中的显著对象可能与</a:t>
            </a:r>
            <a:r>
              <a:rPr lang="en-US" altLang="zh-CN" dirty="0"/>
              <a:t>RGB</a:t>
            </a:r>
            <a:r>
              <a:rPr lang="zh-CN" altLang="en-US" dirty="0"/>
              <a:t>中的显著对象不对齐的现象。（没有对齐）</a:t>
            </a:r>
            <a:endParaRPr lang="en-US" altLang="zh-CN" dirty="0"/>
          </a:p>
          <a:p>
            <a:pPr marR="0">
              <a:lnSpc>
                <a:spcPct val="130000"/>
              </a:lnSpc>
              <a:spcBef>
                <a:spcPts val="0"/>
              </a:spcBef>
              <a:spcAft>
                <a:spcPts val="0"/>
              </a:spcAft>
            </a:pPr>
            <a:endParaRPr lang="en-US" altLang="zh-CN" dirty="0"/>
          </a:p>
          <a:p>
            <a:pPr marR="0">
              <a:lnSpc>
                <a:spcPct val="130000"/>
              </a:lnSpc>
              <a:spcBef>
                <a:spcPts val="0"/>
              </a:spcBef>
              <a:spcAft>
                <a:spcPts val="0"/>
              </a:spcAft>
            </a:pPr>
            <a:r>
              <a:rPr lang="en-US" altLang="zh-CN" dirty="0" err="1"/>
              <a:t>OCDFormer</a:t>
            </a:r>
            <a:r>
              <a:rPr lang="zh-CN" altLang="en-US" dirty="0"/>
              <a:t>试图通过像素级光谱聚类在一定程度上解决这个问题。然而，由于它通过像素级聚类从根本上依赖于浅层特征，因此它仍然是一种次优解决方案。（浅层对齐）</a:t>
            </a:r>
            <a:endParaRPr lang="en-US" altLang="zh-CN" dirty="0"/>
          </a:p>
        </p:txBody>
      </p:sp>
      <p:pic>
        <p:nvPicPr>
          <p:cNvPr id="18" name="图片 17"/>
          <p:cNvPicPr>
            <a:picLocks noChangeAspect="1"/>
          </p:cNvPicPr>
          <p:nvPr/>
        </p:nvPicPr>
        <p:blipFill>
          <a:blip r:embed="rId3"/>
          <a:stretch>
            <a:fillRect/>
          </a:stretch>
        </p:blipFill>
        <p:spPr>
          <a:xfrm>
            <a:off x="6673850" y="922020"/>
            <a:ext cx="5105400" cy="50139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0" y="1588770"/>
            <a:ext cx="12192000" cy="2775585"/>
            <a:chOff x="0" y="2985"/>
            <a:chExt cx="19200" cy="4371"/>
          </a:xfrm>
        </p:grpSpPr>
        <p:sp>
          <p:nvSpPr>
            <p:cNvPr id="26" name="文本框 25"/>
            <p:cNvSpPr txBox="1"/>
            <p:nvPr/>
          </p:nvSpPr>
          <p:spPr>
            <a:xfrm>
              <a:off x="0" y="3868"/>
              <a:ext cx="19200" cy="3488"/>
            </a:xfrm>
            <a:prstGeom prst="rect">
              <a:avLst/>
            </a:prstGeom>
            <a:noFill/>
          </p:spPr>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800" b="0" i="0" u="none" strike="noStrike" kern="1200" cap="none" spc="0" normalizeH="0" baseline="0" noProof="0">
                  <a:ln>
                    <a:noFill/>
                  </a:ln>
                  <a:solidFill>
                    <a:srgbClr val="FFFFFF"/>
                  </a:solidFill>
                  <a:effectLst/>
                  <a:uLnTx/>
                  <a:uFillTx/>
                  <a:cs typeface="+mn-ea"/>
                  <a:sym typeface="+mn-lt"/>
                </a:rPr>
                <a:t>研究方法</a:t>
              </a:r>
            </a:p>
          </p:txBody>
        </p:sp>
        <p:sp>
          <p:nvSpPr>
            <p:cNvPr id="32" name="文本框 31"/>
            <p:cNvSpPr txBox="1"/>
            <p:nvPr/>
          </p:nvSpPr>
          <p:spPr>
            <a:xfrm>
              <a:off x="8708" y="2985"/>
              <a:ext cx="1785" cy="1599"/>
            </a:xfrm>
            <a:prstGeom prst="rect">
              <a:avLst/>
            </a:prstGeom>
            <a:noFill/>
          </p:spPr>
          <p:txBody>
            <a:bodyPr wrap="non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a:ln>
                    <a:noFill/>
                  </a:ln>
                  <a:solidFill>
                    <a:srgbClr val="FFFFFF">
                      <a:alpha val="70000"/>
                    </a:srgbClr>
                  </a:solidFill>
                  <a:effectLst/>
                  <a:uLnTx/>
                  <a:uFillTx/>
                  <a:cs typeface="+mn-ea"/>
                  <a:sym typeface="+mn-lt"/>
                </a:rPr>
                <a:t>02</a:t>
              </a:r>
            </a:p>
          </p:txBody>
        </p:sp>
      </p:grpSp>
      <p:cxnSp>
        <p:nvCxnSpPr>
          <p:cNvPr id="34" name="直接箭头连接符 33"/>
          <p:cNvCxnSpPr/>
          <p:nvPr/>
        </p:nvCxnSpPr>
        <p:spPr>
          <a:xfrm>
            <a:off x="6096000" y="4071620"/>
            <a:ext cx="0" cy="1102360"/>
          </a:xfrm>
          <a:prstGeom prst="straightConnector1">
            <a:avLst/>
          </a:prstGeom>
          <a:ln w="12700">
            <a:solidFill>
              <a:schemeClr val="bg1"/>
            </a:solidFill>
            <a:prstDash val="dash"/>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EF755-0FC1-B685-1186-EB8FD4E1CC51}"/>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0C94C65-5523-31F6-2111-C1E2CCEA0E81}"/>
              </a:ext>
            </a:extLst>
          </p:cNvPr>
          <p:cNvSpPr txBox="1"/>
          <p:nvPr/>
        </p:nvSpPr>
        <p:spPr>
          <a:xfrm>
            <a:off x="237673" y="64482"/>
            <a:ext cx="3298007" cy="461665"/>
          </a:xfrm>
          <a:prstGeom prst="rect">
            <a:avLst/>
          </a:prstGeom>
          <a:noFill/>
        </p:spPr>
        <p:txBody>
          <a:bodyPr wrap="square" rtlCol="0">
            <a:spAutoFit/>
          </a:bodyPr>
          <a:lstStyle>
            <a:defPPr>
              <a:defRPr lang="zh-CN"/>
            </a:defPPr>
            <a:lvl1pPr lvl="0">
              <a:defRPr sz="2400" spc="600">
                <a:solidFill>
                  <a:schemeClr val="bg1"/>
                </a:solidFill>
                <a:latin typeface="微软雅黑 Light" panose="020B0502040204020203" pitchFamily="34" charset="-122"/>
                <a:ea typeface="微软雅黑 Light" panose="020B0502040204020203" pitchFamily="34" charset="-122"/>
              </a:defRPr>
            </a:lvl1pPr>
          </a:lstStyle>
          <a:p>
            <a:pPr marL="342900" marR="0" lvl="0" indent="-342900" algn="l" defTabSz="914400" rtl="0" eaLnBrk="1" fontAlgn="auto" latinLnBrk="0" hangingPunct="1">
              <a:lnSpc>
                <a:spcPct val="100000"/>
              </a:lnSpc>
              <a:spcBef>
                <a:spcPts val="0"/>
              </a:spcBef>
              <a:spcAft>
                <a:spcPts val="0"/>
              </a:spcAft>
              <a:buClrTx/>
              <a:buSzTx/>
              <a:buFont typeface="思源黑体 Medium" panose="020B0600000000000000" charset="-122"/>
              <a:buChar char="•"/>
              <a:defRPr/>
            </a:pPr>
            <a:r>
              <a:rPr kumimoji="0" lang="zh-CN" altLang="en-US" sz="2400" i="0" u="none" strike="noStrike" kern="1200" cap="none" spc="600" normalizeH="0" baseline="0" noProof="0" dirty="0">
                <a:ln>
                  <a:noFill/>
                </a:ln>
                <a:solidFill>
                  <a:srgbClr val="FFFFFF"/>
                </a:solidFill>
                <a:effectLst/>
                <a:uLnTx/>
                <a:uFillTx/>
                <a:latin typeface="+mn-lt"/>
                <a:ea typeface="+mn-ea"/>
                <a:cs typeface="+mn-ea"/>
                <a:sym typeface="+mn-lt"/>
              </a:rPr>
              <a:t>研究</a:t>
            </a:r>
            <a:r>
              <a:rPr lang="zh-CN" altLang="en-US" dirty="0">
                <a:solidFill>
                  <a:srgbClr val="FFFFFF"/>
                </a:solidFill>
                <a:latin typeface="+mn-lt"/>
                <a:ea typeface="+mn-ea"/>
                <a:cs typeface="+mn-ea"/>
                <a:sym typeface="+mn-lt"/>
              </a:rPr>
              <a:t>方法</a:t>
            </a:r>
            <a:endParaRPr kumimoji="0" lang="zh-CN" altLang="en-US" sz="2400" i="0" u="none" strike="noStrike" kern="1200" cap="none" spc="600" normalizeH="0" baseline="0" noProof="0" dirty="0">
              <a:ln>
                <a:noFill/>
              </a:ln>
              <a:solidFill>
                <a:srgbClr val="FFFFFF"/>
              </a:solidFill>
              <a:effectLst/>
              <a:uLnTx/>
              <a:uFillTx/>
              <a:latin typeface="+mn-lt"/>
              <a:ea typeface="+mn-ea"/>
              <a:cs typeface="+mn-ea"/>
              <a:sym typeface="+mn-lt"/>
            </a:endParaRPr>
          </a:p>
        </p:txBody>
      </p:sp>
      <p:sp>
        <p:nvSpPr>
          <p:cNvPr id="4" name="矩形 3" descr="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
            <a:extLst>
              <a:ext uri="{FF2B5EF4-FFF2-40B4-BE49-F238E27FC236}">
                <a16:creationId xmlns:a16="http://schemas.microsoft.com/office/drawing/2014/main" id="{3DA472F0-5FDB-E489-8FCD-24CFA4841C77}"/>
              </a:ext>
            </a:extLst>
          </p:cNvPr>
          <p:cNvSpPr/>
          <p:nvPr>
            <p:custDataLst>
              <p:tags r:id="rId1"/>
            </p:custDataLst>
          </p:nvPr>
        </p:nvSpPr>
        <p:spPr>
          <a:xfrm>
            <a:off x="237673" y="922020"/>
            <a:ext cx="5308463" cy="1502334"/>
          </a:xfrm>
          <a:prstGeom prst="rect">
            <a:avLst/>
          </a:prstGeom>
        </p:spPr>
        <p:txBody>
          <a:bodyPr wrap="square">
            <a:spAutoFit/>
          </a:bodyPr>
          <a:lstStyle/>
          <a:p>
            <a:pPr marR="0">
              <a:lnSpc>
                <a:spcPct val="130000"/>
              </a:lnSpc>
              <a:spcBef>
                <a:spcPts val="0"/>
              </a:spcBef>
              <a:spcAft>
                <a:spcPts val="0"/>
              </a:spcAft>
            </a:pPr>
            <a:r>
              <a:rPr lang="en-US" altLang="zh-CN" dirty="0" err="1"/>
              <a:t>SMAFormer</a:t>
            </a:r>
            <a:r>
              <a:rPr lang="zh-CN" altLang="en-US" dirty="0"/>
              <a:t>（</a:t>
            </a:r>
            <a:r>
              <a:rPr lang="en-US" altLang="zh-CN" dirty="0"/>
              <a:t>semantic-level multi-modal alignment transformer</a:t>
            </a:r>
            <a:r>
              <a:rPr lang="zh-CN" altLang="en-US" dirty="0"/>
              <a:t>）引入语义信息来代替像素信息作为聚类线索。通过利用语义线索，有效地对齐</a:t>
            </a:r>
            <a:r>
              <a:rPr lang="en-US" altLang="zh-CN" dirty="0"/>
              <a:t>RGB</a:t>
            </a:r>
            <a:r>
              <a:rPr lang="zh-CN" altLang="en-US" dirty="0"/>
              <a:t>和深度特征</a:t>
            </a:r>
            <a:endParaRPr lang="en-US" altLang="zh-CN" dirty="0"/>
          </a:p>
        </p:txBody>
      </p:sp>
      <p:pic>
        <p:nvPicPr>
          <p:cNvPr id="18" name="图片 17">
            <a:extLst>
              <a:ext uri="{FF2B5EF4-FFF2-40B4-BE49-F238E27FC236}">
                <a16:creationId xmlns:a16="http://schemas.microsoft.com/office/drawing/2014/main" id="{69E7853E-E869-A096-AA69-E77F4152CB7B}"/>
              </a:ext>
            </a:extLst>
          </p:cNvPr>
          <p:cNvPicPr>
            <a:picLocks noChangeAspect="1"/>
          </p:cNvPicPr>
          <p:nvPr/>
        </p:nvPicPr>
        <p:blipFill>
          <a:blip r:embed="rId3"/>
          <a:stretch>
            <a:fillRect/>
          </a:stretch>
        </p:blipFill>
        <p:spPr>
          <a:xfrm>
            <a:off x="6673850" y="922020"/>
            <a:ext cx="5105400" cy="5013960"/>
          </a:xfrm>
          <a:prstGeom prst="rect">
            <a:avLst/>
          </a:prstGeom>
        </p:spPr>
      </p:pic>
      <p:sp>
        <p:nvSpPr>
          <p:cNvPr id="2" name="文本框 1">
            <a:extLst>
              <a:ext uri="{FF2B5EF4-FFF2-40B4-BE49-F238E27FC236}">
                <a16:creationId xmlns:a16="http://schemas.microsoft.com/office/drawing/2014/main" id="{375D8934-6BF7-5299-482E-C2333194E8D7}"/>
              </a:ext>
            </a:extLst>
          </p:cNvPr>
          <p:cNvSpPr txBox="1"/>
          <p:nvPr/>
        </p:nvSpPr>
        <p:spPr>
          <a:xfrm>
            <a:off x="237673" y="2954594"/>
            <a:ext cx="5308463" cy="923330"/>
          </a:xfrm>
          <a:prstGeom prst="rect">
            <a:avLst/>
          </a:prstGeom>
          <a:noFill/>
        </p:spPr>
        <p:txBody>
          <a:bodyPr wrap="square" rtlCol="0">
            <a:spAutoFit/>
          </a:bodyPr>
          <a:lstStyle/>
          <a:p>
            <a:r>
              <a:rPr lang="zh-CN" altLang="en-US" dirty="0"/>
              <a:t>数据集：使用了三个权威且广泛使用的测试集来验证该方法的有效性。包括</a:t>
            </a:r>
            <a:r>
              <a:rPr lang="en-US" altLang="zh-CN" dirty="0"/>
              <a:t>RGB-D CoSal150</a:t>
            </a:r>
            <a:r>
              <a:rPr lang="zh-CN" altLang="en-US" dirty="0"/>
              <a:t>、</a:t>
            </a:r>
            <a:r>
              <a:rPr lang="en-US" altLang="zh-CN" dirty="0"/>
              <a:t>RGB-D CoSeg183</a:t>
            </a:r>
            <a:r>
              <a:rPr lang="zh-CN" altLang="en-US" dirty="0"/>
              <a:t>和</a:t>
            </a:r>
            <a:r>
              <a:rPr lang="en-US" altLang="zh-CN" dirty="0"/>
              <a:t>RGB-D CoSal1k</a:t>
            </a:r>
            <a:endParaRPr lang="zh-CN" altLang="en-US" dirty="0"/>
          </a:p>
        </p:txBody>
      </p:sp>
    </p:spTree>
    <p:extLst>
      <p:ext uri="{BB962C8B-B14F-4D97-AF65-F5344CB8AC3E}">
        <p14:creationId xmlns:p14="http://schemas.microsoft.com/office/powerpoint/2010/main" val="539542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78FBD-890B-7250-5FCC-28B1982B787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4E085DB-51A7-5DA7-2376-24722174ADDA}"/>
              </a:ext>
            </a:extLst>
          </p:cNvPr>
          <p:cNvSpPr txBox="1"/>
          <p:nvPr/>
        </p:nvSpPr>
        <p:spPr>
          <a:xfrm>
            <a:off x="237673" y="64482"/>
            <a:ext cx="3298007" cy="461665"/>
          </a:xfrm>
          <a:prstGeom prst="rect">
            <a:avLst/>
          </a:prstGeom>
          <a:noFill/>
        </p:spPr>
        <p:txBody>
          <a:bodyPr wrap="square" rtlCol="0">
            <a:spAutoFit/>
          </a:bodyPr>
          <a:lstStyle>
            <a:defPPr>
              <a:defRPr lang="zh-CN"/>
            </a:defPPr>
            <a:lvl1pPr lvl="0">
              <a:defRPr sz="2400" spc="600">
                <a:solidFill>
                  <a:schemeClr val="bg1"/>
                </a:solidFill>
                <a:latin typeface="微软雅黑 Light" panose="020B0502040204020203" pitchFamily="34" charset="-122"/>
                <a:ea typeface="微软雅黑 Light" panose="020B0502040204020203" pitchFamily="34" charset="-122"/>
              </a:defRPr>
            </a:lvl1pPr>
          </a:lstStyle>
          <a:p>
            <a:pPr marL="342900" marR="0" lvl="0" indent="-342900" algn="l" defTabSz="914400" rtl="0" eaLnBrk="1" fontAlgn="auto" latinLnBrk="0" hangingPunct="1">
              <a:lnSpc>
                <a:spcPct val="100000"/>
              </a:lnSpc>
              <a:spcBef>
                <a:spcPts val="0"/>
              </a:spcBef>
              <a:spcAft>
                <a:spcPts val="0"/>
              </a:spcAft>
              <a:buClrTx/>
              <a:buSzTx/>
              <a:buFont typeface="思源黑体 Medium" panose="020B0600000000000000" charset="-122"/>
              <a:buChar char="•"/>
              <a:defRPr/>
            </a:pPr>
            <a:r>
              <a:rPr kumimoji="0" lang="zh-CN" altLang="en-US" sz="2400" i="0" u="none" strike="noStrike" kern="1200" cap="none" spc="600" normalizeH="0" baseline="0" noProof="0" dirty="0">
                <a:ln>
                  <a:noFill/>
                </a:ln>
                <a:solidFill>
                  <a:srgbClr val="FFFFFF"/>
                </a:solidFill>
                <a:effectLst/>
                <a:uLnTx/>
                <a:uFillTx/>
                <a:latin typeface="+mn-lt"/>
                <a:ea typeface="+mn-ea"/>
                <a:cs typeface="+mn-ea"/>
                <a:sym typeface="+mn-lt"/>
              </a:rPr>
              <a:t>研究</a:t>
            </a:r>
            <a:r>
              <a:rPr lang="zh-CN" altLang="en-US" dirty="0">
                <a:solidFill>
                  <a:srgbClr val="FFFFFF"/>
                </a:solidFill>
                <a:latin typeface="+mn-lt"/>
                <a:ea typeface="+mn-ea"/>
                <a:cs typeface="+mn-ea"/>
                <a:sym typeface="+mn-lt"/>
              </a:rPr>
              <a:t>方法</a:t>
            </a:r>
            <a:endParaRPr kumimoji="0" lang="zh-CN" altLang="en-US" sz="2400" i="0" u="none" strike="noStrike" kern="1200" cap="none" spc="600" normalizeH="0" baseline="0" noProof="0" dirty="0">
              <a:ln>
                <a:noFill/>
              </a:ln>
              <a:solidFill>
                <a:srgbClr val="FFFFFF"/>
              </a:solidFill>
              <a:effectLst/>
              <a:uLnTx/>
              <a:uFillTx/>
              <a:latin typeface="+mn-lt"/>
              <a:ea typeface="+mn-ea"/>
              <a:cs typeface="+mn-ea"/>
              <a:sym typeface="+mn-lt"/>
            </a:endParaRPr>
          </a:p>
        </p:txBody>
      </p:sp>
      <p:sp>
        <p:nvSpPr>
          <p:cNvPr id="4" name="矩形 3" descr="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
            <a:extLst>
              <a:ext uri="{FF2B5EF4-FFF2-40B4-BE49-F238E27FC236}">
                <a16:creationId xmlns:a16="http://schemas.microsoft.com/office/drawing/2014/main" id="{8D5CC333-682D-71C8-BE0A-12CC8825439F}"/>
              </a:ext>
            </a:extLst>
          </p:cNvPr>
          <p:cNvSpPr/>
          <p:nvPr>
            <p:custDataLst>
              <p:tags r:id="rId1"/>
            </p:custDataLst>
          </p:nvPr>
        </p:nvSpPr>
        <p:spPr>
          <a:xfrm>
            <a:off x="237674" y="922020"/>
            <a:ext cx="2682508" cy="783420"/>
          </a:xfrm>
          <a:prstGeom prst="rect">
            <a:avLst/>
          </a:prstGeom>
        </p:spPr>
        <p:txBody>
          <a:bodyPr wrap="square">
            <a:spAutoFit/>
          </a:bodyPr>
          <a:lstStyle/>
          <a:p>
            <a:pPr marR="0">
              <a:lnSpc>
                <a:spcPct val="130000"/>
              </a:lnSpc>
              <a:spcBef>
                <a:spcPts val="0"/>
              </a:spcBef>
              <a:spcAft>
                <a:spcPts val="0"/>
              </a:spcAft>
            </a:pPr>
            <a:r>
              <a:rPr lang="zh-CN" altLang="en-US" dirty="0"/>
              <a:t>模型架构：</a:t>
            </a:r>
            <a:r>
              <a:rPr lang="en-US" altLang="zh-CN" dirty="0"/>
              <a:t>LDM + CMT</a:t>
            </a:r>
          </a:p>
          <a:p>
            <a:pPr marR="0">
              <a:lnSpc>
                <a:spcPct val="130000"/>
              </a:lnSpc>
              <a:spcBef>
                <a:spcPts val="0"/>
              </a:spcBef>
              <a:spcAft>
                <a:spcPts val="0"/>
              </a:spcAft>
            </a:pPr>
            <a:endParaRPr lang="en-US" altLang="zh-CN" dirty="0"/>
          </a:p>
        </p:txBody>
      </p:sp>
      <p:pic>
        <p:nvPicPr>
          <p:cNvPr id="5" name="图片 4">
            <a:extLst>
              <a:ext uri="{FF2B5EF4-FFF2-40B4-BE49-F238E27FC236}">
                <a16:creationId xmlns:a16="http://schemas.microsoft.com/office/drawing/2014/main" id="{C5CE1AC6-422D-70F6-B5AD-86BB6744D37D}"/>
              </a:ext>
            </a:extLst>
          </p:cNvPr>
          <p:cNvPicPr>
            <a:picLocks noChangeAspect="1"/>
          </p:cNvPicPr>
          <p:nvPr/>
        </p:nvPicPr>
        <p:blipFill>
          <a:blip r:embed="rId3"/>
          <a:stretch>
            <a:fillRect/>
          </a:stretch>
        </p:blipFill>
        <p:spPr>
          <a:xfrm>
            <a:off x="3790594" y="682790"/>
            <a:ext cx="8401406" cy="3573829"/>
          </a:xfrm>
          <a:prstGeom prst="rect">
            <a:avLst/>
          </a:prstGeom>
        </p:spPr>
      </p:pic>
      <p:sp>
        <p:nvSpPr>
          <p:cNvPr id="6" name="文本框 5">
            <a:extLst>
              <a:ext uri="{FF2B5EF4-FFF2-40B4-BE49-F238E27FC236}">
                <a16:creationId xmlns:a16="http://schemas.microsoft.com/office/drawing/2014/main" id="{EAE2B63A-3238-FB37-35F2-A322184DFC25}"/>
              </a:ext>
            </a:extLst>
          </p:cNvPr>
          <p:cNvSpPr txBox="1"/>
          <p:nvPr/>
        </p:nvSpPr>
        <p:spPr>
          <a:xfrm>
            <a:off x="237673" y="4630994"/>
            <a:ext cx="10864645" cy="1754326"/>
          </a:xfrm>
          <a:prstGeom prst="rect">
            <a:avLst/>
          </a:prstGeom>
          <a:noFill/>
        </p:spPr>
        <p:txBody>
          <a:bodyPr wrap="square" rtlCol="0">
            <a:spAutoFit/>
          </a:bodyPr>
          <a:lstStyle/>
          <a:p>
            <a:r>
              <a:rPr lang="en-US" altLang="zh-CN" dirty="0"/>
              <a:t>LDM</a:t>
            </a:r>
            <a:r>
              <a:rPr lang="zh-CN" altLang="en-US" dirty="0"/>
              <a:t>：首先，使用</a:t>
            </a:r>
            <a:r>
              <a:rPr lang="en-US" altLang="zh-CN" dirty="0"/>
              <a:t>SAM</a:t>
            </a:r>
            <a:r>
              <a:rPr lang="zh-CN" altLang="en-US" dirty="0"/>
              <a:t>（自适应注意力机制）引导</a:t>
            </a:r>
            <a:r>
              <a:rPr lang="en-US" altLang="zh-CN" dirty="0"/>
              <a:t>SCE</a:t>
            </a:r>
            <a:r>
              <a:rPr lang="zh-CN" altLang="en-US" dirty="0"/>
              <a:t>（聚类中心提取器）来动态地从</a:t>
            </a:r>
            <a:r>
              <a:rPr lang="en-US" altLang="zh-CN" dirty="0"/>
              <a:t>RGB</a:t>
            </a:r>
            <a:r>
              <a:rPr lang="zh-CN" altLang="en-US" dirty="0"/>
              <a:t>图像生成自适应的聚类中心；其次，</a:t>
            </a:r>
            <a:r>
              <a:rPr lang="en-US" altLang="zh-CN" dirty="0"/>
              <a:t>RDCM</a:t>
            </a:r>
            <a:r>
              <a:rPr lang="zh-CN" altLang="en-US" dirty="0"/>
              <a:t>利用</a:t>
            </a:r>
            <a:r>
              <a:rPr lang="en-US" altLang="zh-CN" dirty="0"/>
              <a:t>SCE</a:t>
            </a:r>
            <a:r>
              <a:rPr lang="zh-CN" altLang="en-US" dirty="0"/>
              <a:t>提供的动态聚类中心，使用注意力机制迭代地捕获斑块级别的关联，通过同时考虑语义属性和位置信息来完成聚类；最后，将聚类后的得到的深度图特征输出给</a:t>
            </a:r>
            <a:r>
              <a:rPr lang="en-US" altLang="zh-CN" dirty="0"/>
              <a:t>CMT</a:t>
            </a:r>
            <a:r>
              <a:rPr lang="zh-CN" altLang="en-US" dirty="0"/>
              <a:t>。</a:t>
            </a:r>
            <a:endParaRPr lang="en-US" altLang="zh-CN" dirty="0"/>
          </a:p>
          <a:p>
            <a:endParaRPr lang="en-US" altLang="zh-CN" dirty="0"/>
          </a:p>
          <a:p>
            <a:r>
              <a:rPr lang="en-US" altLang="zh-CN" dirty="0"/>
              <a:t>CMT</a:t>
            </a:r>
            <a:r>
              <a:rPr lang="zh-CN" altLang="en-US" dirty="0"/>
              <a:t>：首先，将</a:t>
            </a:r>
            <a:r>
              <a:rPr lang="en-US" altLang="zh-CN" dirty="0"/>
              <a:t>RGB</a:t>
            </a:r>
            <a:r>
              <a:rPr lang="zh-CN" altLang="en-US" dirty="0"/>
              <a:t>图片分割成斑块图片；其次，通过</a:t>
            </a:r>
            <a:r>
              <a:rPr lang="en-US" altLang="zh-CN" dirty="0"/>
              <a:t>Sub-former</a:t>
            </a:r>
            <a:r>
              <a:rPr lang="zh-CN" altLang="en-US" dirty="0"/>
              <a:t>注意力机制从单一模式中提取局部特征和全局信息；最后，利用</a:t>
            </a:r>
            <a:r>
              <a:rPr lang="en-US" altLang="zh-CN" dirty="0"/>
              <a:t>Interaction-former</a:t>
            </a:r>
            <a:r>
              <a:rPr lang="zh-CN" altLang="en-US" dirty="0"/>
              <a:t>融合多模态特征（</a:t>
            </a:r>
            <a:r>
              <a:rPr lang="en-US" altLang="zh-CN" dirty="0"/>
              <a:t>RGB</a:t>
            </a:r>
            <a:r>
              <a:rPr lang="zh-CN" altLang="en-US" dirty="0"/>
              <a:t>特征和语义校准后的深度图特征）。</a:t>
            </a:r>
          </a:p>
        </p:txBody>
      </p:sp>
      <p:pic>
        <p:nvPicPr>
          <p:cNvPr id="8" name="图片 7">
            <a:extLst>
              <a:ext uri="{FF2B5EF4-FFF2-40B4-BE49-F238E27FC236}">
                <a16:creationId xmlns:a16="http://schemas.microsoft.com/office/drawing/2014/main" id="{042F8D9D-42A7-9920-278C-81C2DDFE4D7B}"/>
              </a:ext>
            </a:extLst>
          </p:cNvPr>
          <p:cNvPicPr>
            <a:picLocks noChangeAspect="1"/>
          </p:cNvPicPr>
          <p:nvPr/>
        </p:nvPicPr>
        <p:blipFill>
          <a:blip r:embed="rId4"/>
          <a:stretch>
            <a:fillRect/>
          </a:stretch>
        </p:blipFill>
        <p:spPr>
          <a:xfrm>
            <a:off x="35341" y="2079815"/>
            <a:ext cx="3755253" cy="1430168"/>
          </a:xfrm>
          <a:prstGeom prst="rect">
            <a:avLst/>
          </a:prstGeom>
        </p:spPr>
      </p:pic>
    </p:spTree>
    <p:extLst>
      <p:ext uri="{BB962C8B-B14F-4D97-AF65-F5344CB8AC3E}">
        <p14:creationId xmlns:p14="http://schemas.microsoft.com/office/powerpoint/2010/main" val="390864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0" y="1588770"/>
            <a:ext cx="12192000" cy="2775585"/>
            <a:chOff x="0" y="2985"/>
            <a:chExt cx="19200" cy="4371"/>
          </a:xfrm>
        </p:grpSpPr>
        <p:sp>
          <p:nvSpPr>
            <p:cNvPr id="26" name="文本框 25"/>
            <p:cNvSpPr txBox="1"/>
            <p:nvPr/>
          </p:nvSpPr>
          <p:spPr>
            <a:xfrm>
              <a:off x="0" y="3868"/>
              <a:ext cx="19200" cy="3488"/>
            </a:xfrm>
            <a:prstGeom prst="rect">
              <a:avLst/>
            </a:prstGeom>
            <a:noFill/>
          </p:spPr>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800" b="0" i="0" u="none" strike="noStrike" kern="1200" cap="none" spc="0" normalizeH="0" baseline="0" noProof="0">
                  <a:ln>
                    <a:noFill/>
                  </a:ln>
                  <a:solidFill>
                    <a:srgbClr val="FFFFFF"/>
                  </a:solidFill>
                  <a:effectLst/>
                  <a:uLnTx/>
                  <a:uFillTx/>
                  <a:cs typeface="+mn-ea"/>
                  <a:sym typeface="+mn-lt"/>
                </a:rPr>
                <a:t>效果分析</a:t>
              </a:r>
            </a:p>
          </p:txBody>
        </p:sp>
        <p:sp>
          <p:nvSpPr>
            <p:cNvPr id="32" name="文本框 31"/>
            <p:cNvSpPr txBox="1"/>
            <p:nvPr/>
          </p:nvSpPr>
          <p:spPr>
            <a:xfrm>
              <a:off x="8708" y="2985"/>
              <a:ext cx="1785" cy="1599"/>
            </a:xfrm>
            <a:prstGeom prst="rect">
              <a:avLst/>
            </a:prstGeom>
            <a:noFill/>
          </p:spPr>
          <p:txBody>
            <a:bodyPr wrap="non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a:ln>
                    <a:noFill/>
                  </a:ln>
                  <a:solidFill>
                    <a:srgbClr val="FFFFFF">
                      <a:alpha val="70000"/>
                    </a:srgbClr>
                  </a:solidFill>
                  <a:effectLst/>
                  <a:uLnTx/>
                  <a:uFillTx/>
                  <a:cs typeface="+mn-ea"/>
                  <a:sym typeface="+mn-lt"/>
                </a:rPr>
                <a:t>03</a:t>
              </a:r>
            </a:p>
          </p:txBody>
        </p:sp>
      </p:grpSp>
      <p:cxnSp>
        <p:nvCxnSpPr>
          <p:cNvPr id="34" name="直接箭头连接符 33"/>
          <p:cNvCxnSpPr/>
          <p:nvPr/>
        </p:nvCxnSpPr>
        <p:spPr>
          <a:xfrm>
            <a:off x="6096000" y="4071620"/>
            <a:ext cx="0" cy="1102360"/>
          </a:xfrm>
          <a:prstGeom prst="straightConnector1">
            <a:avLst/>
          </a:prstGeom>
          <a:ln w="12700">
            <a:solidFill>
              <a:schemeClr val="bg1"/>
            </a:solidFill>
            <a:prstDash val="dash"/>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5AE50-A38A-C67D-1B6B-4D48AEF02DC6}"/>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C32B6C5-5DE2-7AF6-069E-E861ACCE56BC}"/>
              </a:ext>
            </a:extLst>
          </p:cNvPr>
          <p:cNvSpPr txBox="1"/>
          <p:nvPr/>
        </p:nvSpPr>
        <p:spPr>
          <a:xfrm>
            <a:off x="237673" y="64482"/>
            <a:ext cx="3298007" cy="461665"/>
          </a:xfrm>
          <a:prstGeom prst="rect">
            <a:avLst/>
          </a:prstGeom>
          <a:noFill/>
        </p:spPr>
        <p:txBody>
          <a:bodyPr wrap="square" rtlCol="0">
            <a:spAutoFit/>
          </a:bodyPr>
          <a:lstStyle>
            <a:defPPr>
              <a:defRPr lang="zh-CN"/>
            </a:defPPr>
            <a:lvl1pPr lvl="0">
              <a:defRPr sz="2400" spc="600">
                <a:solidFill>
                  <a:schemeClr val="bg1"/>
                </a:solidFill>
                <a:latin typeface="微软雅黑 Light" panose="020B0502040204020203" pitchFamily="34" charset="-122"/>
                <a:ea typeface="微软雅黑 Light" panose="020B0502040204020203" pitchFamily="34" charset="-122"/>
              </a:defRPr>
            </a:lvl1pPr>
          </a:lstStyle>
          <a:p>
            <a:pPr marL="342900" marR="0" lvl="0" indent="-342900" algn="l" defTabSz="914400" rtl="0" eaLnBrk="1" fontAlgn="auto" latinLnBrk="0" hangingPunct="1">
              <a:lnSpc>
                <a:spcPct val="100000"/>
              </a:lnSpc>
              <a:spcBef>
                <a:spcPts val="0"/>
              </a:spcBef>
              <a:spcAft>
                <a:spcPts val="0"/>
              </a:spcAft>
              <a:buClrTx/>
              <a:buSzTx/>
              <a:buFont typeface="思源黑体 Medium" panose="020B0600000000000000" charset="-122"/>
              <a:buChar char="•"/>
              <a:defRPr/>
            </a:pPr>
            <a:r>
              <a:rPr lang="zh-CN" altLang="en-US" dirty="0">
                <a:solidFill>
                  <a:srgbClr val="FFFFFF"/>
                </a:solidFill>
                <a:latin typeface="+mn-lt"/>
                <a:ea typeface="+mn-ea"/>
                <a:cs typeface="+mn-ea"/>
                <a:sym typeface="+mn-lt"/>
              </a:rPr>
              <a:t>效果分析</a:t>
            </a:r>
            <a:endParaRPr kumimoji="0" lang="zh-CN" altLang="en-US" sz="2400" i="0" u="none" strike="noStrike" kern="1200" cap="none" spc="600" normalizeH="0" baseline="0" noProof="0" dirty="0">
              <a:ln>
                <a:noFill/>
              </a:ln>
              <a:solidFill>
                <a:srgbClr val="FFFFFF"/>
              </a:solidFill>
              <a:effectLst/>
              <a:uLnTx/>
              <a:uFillTx/>
              <a:latin typeface="+mn-lt"/>
              <a:ea typeface="+mn-ea"/>
              <a:cs typeface="+mn-ea"/>
              <a:sym typeface="+mn-lt"/>
            </a:endParaRPr>
          </a:p>
        </p:txBody>
      </p:sp>
      <p:sp>
        <p:nvSpPr>
          <p:cNvPr id="4" name="矩形 3" descr="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
            <a:extLst>
              <a:ext uri="{FF2B5EF4-FFF2-40B4-BE49-F238E27FC236}">
                <a16:creationId xmlns:a16="http://schemas.microsoft.com/office/drawing/2014/main" id="{FD575762-13CF-DB7E-B6A3-A76971B08AB1}"/>
              </a:ext>
            </a:extLst>
          </p:cNvPr>
          <p:cNvSpPr/>
          <p:nvPr>
            <p:custDataLst>
              <p:tags r:id="rId1"/>
            </p:custDataLst>
          </p:nvPr>
        </p:nvSpPr>
        <p:spPr>
          <a:xfrm>
            <a:off x="237673" y="922020"/>
            <a:ext cx="5308463" cy="5103320"/>
          </a:xfrm>
          <a:prstGeom prst="rect">
            <a:avLst/>
          </a:prstGeom>
        </p:spPr>
        <p:txBody>
          <a:bodyPr wrap="square">
            <a:spAutoFit/>
          </a:bodyPr>
          <a:lstStyle/>
          <a:p>
            <a:pPr marR="0">
              <a:lnSpc>
                <a:spcPct val="130000"/>
              </a:lnSpc>
              <a:spcBef>
                <a:spcPts val="0"/>
              </a:spcBef>
              <a:spcAft>
                <a:spcPts val="0"/>
              </a:spcAft>
            </a:pPr>
            <a:r>
              <a:rPr lang="zh-CN" altLang="en-US" dirty="0"/>
              <a:t>该模型同时考虑了群体间共同的图像间特征和每幅图像的像内个体信息。</a:t>
            </a:r>
            <a:endParaRPr lang="en-US" altLang="zh-CN" dirty="0"/>
          </a:p>
          <a:p>
            <a:pPr marR="0">
              <a:lnSpc>
                <a:spcPct val="130000"/>
              </a:lnSpc>
              <a:spcBef>
                <a:spcPts val="0"/>
              </a:spcBef>
              <a:spcAft>
                <a:spcPts val="0"/>
              </a:spcAft>
            </a:pPr>
            <a:endParaRPr lang="en-US" altLang="zh-CN" dirty="0"/>
          </a:p>
          <a:p>
            <a:pPr marR="0">
              <a:lnSpc>
                <a:spcPct val="130000"/>
              </a:lnSpc>
              <a:spcBef>
                <a:spcPts val="0"/>
              </a:spcBef>
              <a:spcAft>
                <a:spcPts val="0"/>
              </a:spcAft>
            </a:pPr>
            <a:r>
              <a:rPr lang="zh-CN" altLang="en-US" dirty="0"/>
              <a:t>该模型在语义层面上校准了深度图，创新性的提高了深度图的特征质量，从而提高了</a:t>
            </a:r>
            <a:r>
              <a:rPr lang="en-US" altLang="zh-CN" dirty="0"/>
              <a:t>RGB</a:t>
            </a:r>
            <a:r>
              <a:rPr lang="zh-CN" altLang="en-US" dirty="0"/>
              <a:t>图与深度图融合特征的质量。</a:t>
            </a:r>
            <a:endParaRPr lang="en-US" altLang="zh-CN" dirty="0"/>
          </a:p>
          <a:p>
            <a:pPr marR="0">
              <a:lnSpc>
                <a:spcPct val="130000"/>
              </a:lnSpc>
              <a:spcBef>
                <a:spcPts val="0"/>
              </a:spcBef>
              <a:spcAft>
                <a:spcPts val="0"/>
              </a:spcAft>
            </a:pPr>
            <a:endParaRPr lang="en-US" altLang="zh-CN" dirty="0"/>
          </a:p>
          <a:p>
            <a:pPr marR="0">
              <a:lnSpc>
                <a:spcPct val="130000"/>
              </a:lnSpc>
              <a:spcBef>
                <a:spcPts val="0"/>
              </a:spcBef>
              <a:spcAft>
                <a:spcPts val="0"/>
              </a:spcAft>
            </a:pPr>
            <a:r>
              <a:rPr lang="zh-CN" altLang="en-US" dirty="0"/>
              <a:t>与</a:t>
            </a:r>
            <a:r>
              <a:rPr lang="en-US" altLang="zh-CN" dirty="0" err="1"/>
              <a:t>CTNet</a:t>
            </a:r>
            <a:r>
              <a:rPr lang="zh-CN" altLang="en-US" dirty="0"/>
              <a:t>相比，</a:t>
            </a:r>
            <a:r>
              <a:rPr lang="en-US" altLang="zh-CN" dirty="0" err="1"/>
              <a:t>SMAFormer</a:t>
            </a:r>
            <a:r>
              <a:rPr lang="zh-CN" altLang="en-US" dirty="0"/>
              <a:t>的参数减少了</a:t>
            </a:r>
            <a:r>
              <a:rPr lang="en-US" altLang="zh-CN" dirty="0"/>
              <a:t>49.8%</a:t>
            </a:r>
            <a:r>
              <a:rPr lang="zh-CN" altLang="en-US" dirty="0"/>
              <a:t>，速度提高了</a:t>
            </a:r>
            <a:r>
              <a:rPr lang="en-US" altLang="zh-CN" dirty="0"/>
              <a:t>42.1%</a:t>
            </a:r>
            <a:r>
              <a:rPr lang="zh-CN" altLang="en-US" dirty="0"/>
              <a:t>，性能显著领先。</a:t>
            </a:r>
            <a:endParaRPr lang="en-US" altLang="zh-CN" dirty="0"/>
          </a:p>
          <a:p>
            <a:pPr marR="0">
              <a:lnSpc>
                <a:spcPct val="130000"/>
              </a:lnSpc>
              <a:spcBef>
                <a:spcPts val="0"/>
              </a:spcBef>
              <a:spcAft>
                <a:spcPts val="0"/>
              </a:spcAft>
            </a:pPr>
            <a:endParaRPr lang="en-US" altLang="zh-CN" dirty="0"/>
          </a:p>
          <a:p>
            <a:pPr marR="0">
              <a:lnSpc>
                <a:spcPct val="130000"/>
              </a:lnSpc>
              <a:spcBef>
                <a:spcPts val="0"/>
              </a:spcBef>
              <a:spcAft>
                <a:spcPts val="0"/>
              </a:spcAft>
            </a:pPr>
            <a:r>
              <a:rPr lang="zh-CN" altLang="en-US" dirty="0"/>
              <a:t>在考虑到聚类层数的选择时，由于迭代次数越多模型的性能会到达一个瓶颈、同时速度会降低和模型参数会增加。经过实验测定，将聚类层数设置为</a:t>
            </a:r>
            <a:r>
              <a:rPr lang="en-US" altLang="zh-CN" dirty="0"/>
              <a:t>6</a:t>
            </a:r>
            <a:r>
              <a:rPr lang="zh-CN" altLang="en-US" dirty="0"/>
              <a:t>个。</a:t>
            </a:r>
            <a:endParaRPr lang="en-US" altLang="zh-CN" dirty="0"/>
          </a:p>
        </p:txBody>
      </p:sp>
    </p:spTree>
    <p:extLst>
      <p:ext uri="{BB962C8B-B14F-4D97-AF65-F5344CB8AC3E}">
        <p14:creationId xmlns:p14="http://schemas.microsoft.com/office/powerpoint/2010/main" val="67504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0" y="1588770"/>
            <a:ext cx="12192000" cy="2775585"/>
            <a:chOff x="0" y="2985"/>
            <a:chExt cx="19200" cy="4371"/>
          </a:xfrm>
        </p:grpSpPr>
        <p:sp>
          <p:nvSpPr>
            <p:cNvPr id="26" name="文本框 25"/>
            <p:cNvSpPr txBox="1"/>
            <p:nvPr/>
          </p:nvSpPr>
          <p:spPr>
            <a:xfrm>
              <a:off x="0" y="3868"/>
              <a:ext cx="19200" cy="3488"/>
            </a:xfrm>
            <a:prstGeom prst="rect">
              <a:avLst/>
            </a:prstGeom>
            <a:noFill/>
          </p:spPr>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800" b="0" i="0" u="none" strike="noStrike" kern="1200" cap="none" spc="0" normalizeH="0" baseline="0" noProof="0">
                  <a:ln>
                    <a:noFill/>
                  </a:ln>
                  <a:solidFill>
                    <a:srgbClr val="FFFFFF"/>
                  </a:solidFill>
                  <a:effectLst/>
                  <a:uLnTx/>
                  <a:uFillTx/>
                  <a:cs typeface="+mn-ea"/>
                  <a:sym typeface="+mn-lt"/>
                </a:rPr>
                <a:t>创新想法</a:t>
              </a:r>
            </a:p>
          </p:txBody>
        </p:sp>
        <p:sp>
          <p:nvSpPr>
            <p:cNvPr id="32" name="文本框 31"/>
            <p:cNvSpPr txBox="1"/>
            <p:nvPr/>
          </p:nvSpPr>
          <p:spPr>
            <a:xfrm>
              <a:off x="8708" y="2985"/>
              <a:ext cx="1785" cy="1599"/>
            </a:xfrm>
            <a:prstGeom prst="rect">
              <a:avLst/>
            </a:prstGeom>
            <a:noFill/>
          </p:spPr>
          <p:txBody>
            <a:bodyPr wrap="non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a:ln>
                    <a:noFill/>
                  </a:ln>
                  <a:solidFill>
                    <a:srgbClr val="FFFFFF">
                      <a:alpha val="70000"/>
                    </a:srgbClr>
                  </a:solidFill>
                  <a:effectLst/>
                  <a:uLnTx/>
                  <a:uFillTx/>
                  <a:cs typeface="+mn-ea"/>
                  <a:sym typeface="+mn-lt"/>
                </a:rPr>
                <a:t>04</a:t>
              </a:r>
            </a:p>
          </p:txBody>
        </p:sp>
      </p:grpSp>
      <p:cxnSp>
        <p:nvCxnSpPr>
          <p:cNvPr id="34" name="直接箭头连接符 33"/>
          <p:cNvCxnSpPr/>
          <p:nvPr/>
        </p:nvCxnSpPr>
        <p:spPr>
          <a:xfrm>
            <a:off x="6096000" y="4071620"/>
            <a:ext cx="0" cy="1102360"/>
          </a:xfrm>
          <a:prstGeom prst="straightConnector1">
            <a:avLst/>
          </a:prstGeom>
          <a:ln w="12700">
            <a:solidFill>
              <a:schemeClr val="bg1"/>
            </a:solidFill>
            <a:prstDash val="dash"/>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A7FBA-424B-4850-9185-88FFB46DA166}"/>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BE4F8DA2-CFDB-6371-3090-8D3ECBDF2D12}"/>
              </a:ext>
            </a:extLst>
          </p:cNvPr>
          <p:cNvSpPr txBox="1"/>
          <p:nvPr/>
        </p:nvSpPr>
        <p:spPr>
          <a:xfrm>
            <a:off x="237673" y="64482"/>
            <a:ext cx="3298007" cy="461665"/>
          </a:xfrm>
          <a:prstGeom prst="rect">
            <a:avLst/>
          </a:prstGeom>
          <a:noFill/>
        </p:spPr>
        <p:txBody>
          <a:bodyPr wrap="square" rtlCol="0">
            <a:spAutoFit/>
          </a:bodyPr>
          <a:lstStyle>
            <a:defPPr>
              <a:defRPr lang="zh-CN"/>
            </a:defPPr>
            <a:lvl1pPr lvl="0">
              <a:defRPr sz="2400" spc="600">
                <a:solidFill>
                  <a:schemeClr val="bg1"/>
                </a:solidFill>
                <a:latin typeface="微软雅黑 Light" panose="020B0502040204020203" pitchFamily="34" charset="-122"/>
                <a:ea typeface="微软雅黑 Light" panose="020B0502040204020203" pitchFamily="34" charset="-122"/>
              </a:defRPr>
            </a:lvl1pPr>
          </a:lstStyle>
          <a:p>
            <a:pPr marL="342900" marR="0" lvl="0" indent="-342900" algn="l" defTabSz="914400" rtl="0" eaLnBrk="1" fontAlgn="auto" latinLnBrk="0" hangingPunct="1">
              <a:lnSpc>
                <a:spcPct val="100000"/>
              </a:lnSpc>
              <a:spcBef>
                <a:spcPts val="0"/>
              </a:spcBef>
              <a:spcAft>
                <a:spcPts val="0"/>
              </a:spcAft>
              <a:buClrTx/>
              <a:buSzTx/>
              <a:buFont typeface="思源黑体 Medium" panose="020B0600000000000000" charset="-122"/>
              <a:buChar char="•"/>
              <a:defRPr/>
            </a:pPr>
            <a:r>
              <a:rPr kumimoji="0" lang="zh-CN" altLang="en-US" sz="2400" i="0" u="none" strike="noStrike" kern="1200" cap="none" spc="600" normalizeH="0" baseline="0" noProof="0" dirty="0">
                <a:ln>
                  <a:noFill/>
                </a:ln>
                <a:solidFill>
                  <a:srgbClr val="FFFFFF"/>
                </a:solidFill>
                <a:effectLst/>
                <a:uLnTx/>
                <a:uFillTx/>
                <a:latin typeface="+mn-lt"/>
                <a:ea typeface="+mn-ea"/>
                <a:cs typeface="+mn-ea"/>
                <a:sym typeface="+mn-lt"/>
              </a:rPr>
              <a:t>创新想法</a:t>
            </a:r>
          </a:p>
        </p:txBody>
      </p:sp>
      <p:sp>
        <p:nvSpPr>
          <p:cNvPr id="4" name="矩形 3" descr="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
            <a:extLst>
              <a:ext uri="{FF2B5EF4-FFF2-40B4-BE49-F238E27FC236}">
                <a16:creationId xmlns:a16="http://schemas.microsoft.com/office/drawing/2014/main" id="{A3C11C30-2E67-A565-00DE-CB473341F5F8}"/>
              </a:ext>
            </a:extLst>
          </p:cNvPr>
          <p:cNvSpPr/>
          <p:nvPr>
            <p:custDataLst>
              <p:tags r:id="rId1"/>
            </p:custDataLst>
          </p:nvPr>
        </p:nvSpPr>
        <p:spPr>
          <a:xfrm>
            <a:off x="237673" y="922020"/>
            <a:ext cx="5308463" cy="1502334"/>
          </a:xfrm>
          <a:prstGeom prst="rect">
            <a:avLst/>
          </a:prstGeom>
        </p:spPr>
        <p:txBody>
          <a:bodyPr wrap="square">
            <a:spAutoFit/>
          </a:bodyPr>
          <a:lstStyle/>
          <a:p>
            <a:pPr>
              <a:lnSpc>
                <a:spcPct val="130000"/>
              </a:lnSpc>
            </a:pPr>
            <a:r>
              <a:rPr lang="zh-CN" altLang="en-US" dirty="0"/>
              <a:t>将这种语义聚类的想法用到之前</a:t>
            </a:r>
            <a:r>
              <a:rPr lang="en-US" altLang="zh-CN" dirty="0" err="1"/>
              <a:t>CoCOD</a:t>
            </a:r>
            <a:r>
              <a:rPr lang="zh-CN" altLang="en-US" dirty="0"/>
              <a:t>上，解决问题：当背景元素的数量远远大于前景元素的数量时，背景元素中的损失函数分量将占主导地位，容易使模型偏向</a:t>
            </a:r>
            <a:r>
              <a:rPr lang="zh-CN" altLang="en-US"/>
              <a:t>背景。</a:t>
            </a:r>
            <a:endParaRPr lang="en-US" altLang="zh-CN" dirty="0"/>
          </a:p>
        </p:txBody>
      </p:sp>
    </p:spTree>
    <p:extLst>
      <p:ext uri="{BB962C8B-B14F-4D97-AF65-F5344CB8AC3E}">
        <p14:creationId xmlns:p14="http://schemas.microsoft.com/office/powerpoint/2010/main" val="1815598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2048945" y="2284498"/>
            <a:ext cx="8094110" cy="1862048"/>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500" b="1">
                <a:solidFill>
                  <a:srgbClr val="465A5A">
                    <a:lumMod val="100000"/>
                  </a:srgbClr>
                </a:solidFill>
                <a:cs typeface="+mn-ea"/>
                <a:sym typeface="+mn-lt"/>
              </a:rPr>
              <a:t>感谢观看</a:t>
            </a:r>
            <a:endParaRPr kumimoji="0" lang="zh-CN" altLang="en-US" sz="11500" b="1" i="0" u="none" strike="noStrike" kern="1200" cap="none" spc="0" normalizeH="0" baseline="0" noProof="0" dirty="0">
              <a:ln>
                <a:noFill/>
              </a:ln>
              <a:solidFill>
                <a:srgbClr val="465A5A">
                  <a:lumMod val="100000"/>
                </a:srgbClr>
              </a:solidFill>
              <a:effectLst/>
              <a:uLnTx/>
              <a:uFillTx/>
              <a:cs typeface="+mn-ea"/>
              <a:sym typeface="+mn-l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ViZmQwYjNiY2EwYTI4N2Q2NWRiMDE2MDM0MTU1YzI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14.62181102362212,&quot;left&quot;:98.61700787401573,&quot;top&quot;:157.92173228346456,&quot;width&quot;:759.315984251968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2.06330708661415,&quot;left&quot;:38.916141732283464,&quot;top&quot;:145.96811023622047,&quot;width&quot;:469.4999212598425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42.06330708661415,&quot;left&quot;:38.916141732283464,&quot;top&quot;:145.96811023622047,&quot;width&quot;:469.4999212598425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2.06330708661415,&quot;left&quot;:38.916141732283464,&quot;top&quot;:145.96811023622047,&quot;width&quot;:469.4999212598425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42.06330708661415,&quot;left&quot;:38.916141732283464,&quot;top&quot;:145.96811023622047,&quot;width&quot;:469.4999212598425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42.06330708661415,&quot;left&quot;:38.916141732283464,&quot;top&quot;:145.96811023622047,&quot;width&quot;:469.49992125984255}"/>
</p:tagLst>
</file>

<file path=ppt/theme/theme1.xml><?xml version="1.0" encoding="utf-8"?>
<a:theme xmlns:a="http://schemas.openxmlformats.org/drawingml/2006/main" name="1_Office 主题​​">
  <a:themeElements>
    <a:clrScheme name="自定义 91">
      <a:dk1>
        <a:srgbClr val="000000"/>
      </a:dk1>
      <a:lt1>
        <a:srgbClr val="FFFFFF"/>
      </a:lt1>
      <a:dk2>
        <a:srgbClr val="131F1F"/>
      </a:dk2>
      <a:lt2>
        <a:srgbClr val="EFF1F5"/>
      </a:lt2>
      <a:accent1>
        <a:srgbClr val="465A5A"/>
      </a:accent1>
      <a:accent2>
        <a:srgbClr val="465A5A"/>
      </a:accent2>
      <a:accent3>
        <a:srgbClr val="9D836D"/>
      </a:accent3>
      <a:accent4>
        <a:srgbClr val="717171"/>
      </a:accent4>
      <a:accent5>
        <a:srgbClr val="8E8E8E"/>
      </a:accent5>
      <a:accent6>
        <a:srgbClr val="ABABAB"/>
      </a:accent6>
      <a:hlink>
        <a:srgbClr val="304FFE"/>
      </a:hlink>
      <a:folHlink>
        <a:srgbClr val="492067"/>
      </a:folHlink>
    </a:clrScheme>
    <a:fontScheme name="ki520art">
      <a:majorFont>
        <a:latin typeface="思源黑体 CN Bold"/>
        <a:ea typeface="思源黑体 CN Bold"/>
        <a:cs typeface=""/>
      </a:majorFont>
      <a:minorFont>
        <a:latin typeface="思源黑体 CN Bold"/>
        <a:ea typeface="思源黑体 CN Bol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588</Words>
  <Application>Microsoft Office PowerPoint</Application>
  <PresentationFormat>宽屏</PresentationFormat>
  <Paragraphs>49</Paragraphs>
  <Slides>12</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思源黑体 Medium</vt:lpstr>
      <vt:lpstr>微软雅黑</vt:lpstr>
      <vt:lpstr>Arial</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成龙 于</dc:creator>
  <cp:lastModifiedBy>a82269</cp:lastModifiedBy>
  <cp:revision>6</cp:revision>
  <dcterms:created xsi:type="dcterms:W3CDTF">2024-03-22T08:51:00Z</dcterms:created>
  <dcterms:modified xsi:type="dcterms:W3CDTF">2026-03-20T08:11:20Z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2052-12.1.0.25225</vt:lpwstr>
  </property>
  <property fmtid="{D5CDD505-2E9C-101B-9397-08002B2CF9AE}" pid="4" name="KSOTemplateUUID">
    <vt:lpwstr>v1.0_mb_eQ5X6Yi4G9HjC2f6Akf2pw==</vt:lpwstr>
  </property>
</Properties>
</file>