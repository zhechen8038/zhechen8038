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 id="259" r:id="rId4"/>
    <p:sldId id="260" r:id="rId5"/>
    <p:sldId id="265" r:id="rId6"/>
    <p:sldId id="287" r:id="rId7"/>
    <p:sldId id="290" r:id="rId8"/>
    <p:sldId id="291" r:id="rId9"/>
    <p:sldId id="266" r:id="rId10"/>
    <p:sldId id="288" r:id="rId11"/>
    <p:sldId id="267" r:id="rId12"/>
    <p:sldId id="289" r:id="rId13"/>
    <p:sldId id="261"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6" userDrawn="1">
          <p15:clr>
            <a:srgbClr val="A4A3A4"/>
          </p15:clr>
        </p15:guide>
        <p15:guide id="2" pos="38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0" autoAdjust="0"/>
    <p:restoredTop sz="94660"/>
  </p:normalViewPr>
  <p:slideViewPr>
    <p:cSldViewPr snapToGrid="0" showGuides="1">
      <p:cViewPr varScale="1">
        <p:scale>
          <a:sx n="104" d="100"/>
          <a:sy n="104" d="100"/>
        </p:scale>
        <p:origin x="636" y="114"/>
      </p:cViewPr>
      <p:guideLst>
        <p:guide orient="horz" pos="2156"/>
        <p:guide pos="3856"/>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descr="碗里&#10;&#10;低可信度描述已自动生成"/>
          <p:cNvPicPr>
            <a:picLocks noChangeAspect="1"/>
          </p:cNvPicPr>
          <p:nvPr userDrawn="1"/>
        </p:nvPicPr>
        <p:blipFill>
          <a:blip r:embed="rId7">
            <a:alphaModFix amt="20000"/>
            <a:extLst>
              <a:ext uri="{28A0092B-C50C-407E-A947-70E740481C1C}">
                <a14:useLocalDpi xmlns:a14="http://schemas.microsoft.com/office/drawing/2010/main" val="0"/>
              </a:ext>
            </a:extLst>
          </a:blip>
          <a:srcRect l="41590" b="43467"/>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5.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257300" y="641350"/>
            <a:ext cx="9677400" cy="5575300"/>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2175511" y="1575268"/>
            <a:ext cx="7840980" cy="3552204"/>
            <a:chOff x="2175511" y="1375395"/>
            <a:chExt cx="7840980" cy="3552204"/>
          </a:xfrm>
        </p:grpSpPr>
        <p:sp>
          <p:nvSpPr>
            <p:cNvPr id="12" name="文本框 11"/>
            <p:cNvSpPr txBox="1"/>
            <p:nvPr/>
          </p:nvSpPr>
          <p:spPr>
            <a:xfrm>
              <a:off x="2175511" y="1375395"/>
              <a:ext cx="7840980" cy="829945"/>
            </a:xfrm>
            <a:prstGeom prst="rect">
              <a:avLst/>
            </a:prstGeom>
            <a:noFill/>
          </p:spPr>
          <p:txBody>
            <a:bodyPr wrap="none" rtlCol="0">
              <a:spAutoFit/>
            </a:bodyPr>
            <a:lstStyle/>
            <a:p>
              <a:pPr algn="ctr"/>
              <a:r>
                <a:rPr lang="zh-CN" altLang="en-US" sz="4800" b="1" dirty="0">
                  <a:solidFill>
                    <a:schemeClr val="accent1"/>
                  </a:solidFill>
                  <a:cs typeface="+mn-ea"/>
                  <a:sym typeface="+mn-lt"/>
                </a:rPr>
                <a:t>协同伪装目标检测</a:t>
              </a:r>
              <a:r>
                <a:rPr lang="en-US" altLang="zh-CN" sz="4800" b="1" dirty="0">
                  <a:solidFill>
                    <a:schemeClr val="accent1"/>
                  </a:solidFill>
                  <a:cs typeface="+mn-ea"/>
                  <a:sym typeface="+mn-lt"/>
                </a:rPr>
                <a:t>——CoCOD</a:t>
              </a:r>
            </a:p>
          </p:txBody>
        </p:sp>
        <p:grpSp>
          <p:nvGrpSpPr>
            <p:cNvPr id="15" name="组合 14"/>
            <p:cNvGrpSpPr/>
            <p:nvPr/>
          </p:nvGrpSpPr>
          <p:grpSpPr>
            <a:xfrm>
              <a:off x="3407878" y="4282439"/>
              <a:ext cx="6046370" cy="645160"/>
              <a:chOff x="3334619" y="4155439"/>
              <a:chExt cx="6046370" cy="645160"/>
            </a:xfrm>
          </p:grpSpPr>
          <p:grpSp>
            <p:nvGrpSpPr>
              <p:cNvPr id="16" name="组合 15"/>
              <p:cNvGrpSpPr/>
              <p:nvPr/>
            </p:nvGrpSpPr>
            <p:grpSpPr>
              <a:xfrm>
                <a:off x="3334619" y="4155439"/>
                <a:ext cx="2722880" cy="368300"/>
                <a:chOff x="3334619" y="4155439"/>
                <a:chExt cx="2722880" cy="368300"/>
              </a:xfrm>
            </p:grpSpPr>
            <p:grpSp>
              <p:nvGrpSpPr>
                <p:cNvPr id="22" name="组合 21"/>
                <p:cNvGrpSpPr/>
                <p:nvPr/>
              </p:nvGrpSpPr>
              <p:grpSpPr>
                <a:xfrm>
                  <a:off x="3334619" y="4155439"/>
                  <a:ext cx="2722880" cy="368300"/>
                  <a:chOff x="-284480" y="-1879601"/>
                  <a:chExt cx="2722880" cy="368300"/>
                </a:xfrm>
              </p:grpSpPr>
              <p:sp>
                <p:nvSpPr>
                  <p:cNvPr id="24" name="椭圆 23"/>
                  <p:cNvSpPr/>
                  <p:nvPr/>
                </p:nvSpPr>
                <p:spPr>
                  <a:xfrm flipV="1">
                    <a:off x="-284480" y="-1827525"/>
                    <a:ext cx="284480" cy="2844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0F4983"/>
                      </a:solidFill>
                      <a:cs typeface="+mn-ea"/>
                      <a:sym typeface="+mn-lt"/>
                    </a:endParaRPr>
                  </a:p>
                </p:txBody>
              </p:sp>
              <p:sp>
                <p:nvSpPr>
                  <p:cNvPr id="25" name="文本框 24"/>
                  <p:cNvSpPr txBox="1"/>
                  <p:nvPr/>
                </p:nvSpPr>
                <p:spPr>
                  <a:xfrm>
                    <a:off x="0" y="-1879601"/>
                    <a:ext cx="2438400" cy="368300"/>
                  </a:xfrm>
                  <a:prstGeom prst="rect">
                    <a:avLst/>
                  </a:prstGeom>
                  <a:noFill/>
                </p:spPr>
                <p:txBody>
                  <a:bodyPr wrap="square" rtlCol="0">
                    <a:spAutoFit/>
                  </a:bodyPr>
                  <a:lstStyle/>
                  <a:p>
                    <a:r>
                      <a:rPr lang="en-US" altLang="zh-CN">
                        <a:solidFill>
                          <a:schemeClr val="accent1"/>
                        </a:solidFill>
                        <a:cs typeface="+mn-ea"/>
                        <a:sym typeface="+mn-lt"/>
                      </a:rPr>
                      <a:t>Reporter: </a:t>
                    </a:r>
                    <a:r>
                      <a:rPr lang="zh-CN" altLang="en-US">
                        <a:solidFill>
                          <a:schemeClr val="accent1"/>
                        </a:solidFill>
                        <a:cs typeface="+mn-ea"/>
                        <a:sym typeface="+mn-lt"/>
                      </a:rPr>
                      <a:t>陈哲</a:t>
                    </a:r>
                    <a:endParaRPr lang="zh-CN" altLang="en-US" dirty="0">
                      <a:solidFill>
                        <a:schemeClr val="accent1"/>
                      </a:solidFill>
                      <a:cs typeface="+mn-ea"/>
                      <a:sym typeface="+mn-lt"/>
                    </a:endParaRPr>
                  </a:p>
                </p:txBody>
              </p:sp>
            </p:grpSp>
            <p:sp>
              <p:nvSpPr>
                <p:cNvPr id="23" name="working-man-with-a-bow-and-a-hat_57080"/>
                <p:cNvSpPr>
                  <a:spLocks noChangeAspect="1"/>
                </p:cNvSpPr>
                <p:nvPr/>
              </p:nvSpPr>
              <p:spPr bwMode="auto">
                <a:xfrm>
                  <a:off x="3417873" y="4271434"/>
                  <a:ext cx="123854" cy="143934"/>
                </a:xfrm>
                <a:custGeom>
                  <a:avLst/>
                  <a:gdLst>
                    <a:gd name="connsiteX0" fmla="*/ 176656 w 521831"/>
                    <a:gd name="connsiteY0" fmla="*/ 380983 h 606439"/>
                    <a:gd name="connsiteX1" fmla="*/ 186943 w 521831"/>
                    <a:gd name="connsiteY1" fmla="*/ 387521 h 606439"/>
                    <a:gd name="connsiteX2" fmla="*/ 260916 w 521831"/>
                    <a:gd name="connsiteY2" fmla="*/ 497073 h 606439"/>
                    <a:gd name="connsiteX3" fmla="*/ 334888 w 521831"/>
                    <a:gd name="connsiteY3" fmla="*/ 387521 h 606439"/>
                    <a:gd name="connsiteX4" fmla="*/ 345082 w 521831"/>
                    <a:gd name="connsiteY4" fmla="*/ 380983 h 606439"/>
                    <a:gd name="connsiteX5" fmla="*/ 350786 w 521831"/>
                    <a:gd name="connsiteY5" fmla="*/ 382571 h 606439"/>
                    <a:gd name="connsiteX6" fmla="*/ 416530 w 521831"/>
                    <a:gd name="connsiteY6" fmla="*/ 416286 h 606439"/>
                    <a:gd name="connsiteX7" fmla="*/ 521831 w 521831"/>
                    <a:gd name="connsiteY7" fmla="*/ 487267 h 606439"/>
                    <a:gd name="connsiteX8" fmla="*/ 521831 w 521831"/>
                    <a:gd name="connsiteY8" fmla="*/ 606439 h 606439"/>
                    <a:gd name="connsiteX9" fmla="*/ 260916 w 521831"/>
                    <a:gd name="connsiteY9" fmla="*/ 606439 h 606439"/>
                    <a:gd name="connsiteX10" fmla="*/ 0 w 521831"/>
                    <a:gd name="connsiteY10" fmla="*/ 606439 h 606439"/>
                    <a:gd name="connsiteX11" fmla="*/ 0 w 521831"/>
                    <a:gd name="connsiteY11" fmla="*/ 487267 h 606439"/>
                    <a:gd name="connsiteX12" fmla="*/ 105301 w 521831"/>
                    <a:gd name="connsiteY12" fmla="*/ 416286 h 606439"/>
                    <a:gd name="connsiteX13" fmla="*/ 170951 w 521831"/>
                    <a:gd name="connsiteY13" fmla="*/ 382571 h 606439"/>
                    <a:gd name="connsiteX14" fmla="*/ 176656 w 521831"/>
                    <a:gd name="connsiteY14" fmla="*/ 380983 h 606439"/>
                    <a:gd name="connsiteX15" fmla="*/ 218033 w 521831"/>
                    <a:gd name="connsiteY15" fmla="*/ 348240 h 606439"/>
                    <a:gd name="connsiteX16" fmla="*/ 220372 w 521831"/>
                    <a:gd name="connsiteY16" fmla="*/ 348427 h 606439"/>
                    <a:gd name="connsiteX17" fmla="*/ 221027 w 521831"/>
                    <a:gd name="connsiteY17" fmla="*/ 348520 h 606439"/>
                    <a:gd name="connsiteX18" fmla="*/ 221120 w 521831"/>
                    <a:gd name="connsiteY18" fmla="*/ 348613 h 606439"/>
                    <a:gd name="connsiteX19" fmla="*/ 222336 w 521831"/>
                    <a:gd name="connsiteY19" fmla="*/ 348893 h 606439"/>
                    <a:gd name="connsiteX20" fmla="*/ 222898 w 521831"/>
                    <a:gd name="connsiteY20" fmla="*/ 349080 h 606439"/>
                    <a:gd name="connsiteX21" fmla="*/ 223553 w 521831"/>
                    <a:gd name="connsiteY21" fmla="*/ 349266 h 606439"/>
                    <a:gd name="connsiteX22" fmla="*/ 227575 w 521831"/>
                    <a:gd name="connsiteY22" fmla="*/ 351693 h 606439"/>
                    <a:gd name="connsiteX23" fmla="*/ 247783 w 521831"/>
                    <a:gd name="connsiteY23" fmla="*/ 367836 h 606439"/>
                    <a:gd name="connsiteX24" fmla="*/ 250309 w 521831"/>
                    <a:gd name="connsiteY24" fmla="*/ 367929 h 606439"/>
                    <a:gd name="connsiteX25" fmla="*/ 260880 w 521831"/>
                    <a:gd name="connsiteY25" fmla="*/ 367836 h 606439"/>
                    <a:gd name="connsiteX26" fmla="*/ 271358 w 521831"/>
                    <a:gd name="connsiteY26" fmla="*/ 367929 h 606439"/>
                    <a:gd name="connsiteX27" fmla="*/ 273978 w 521831"/>
                    <a:gd name="connsiteY27" fmla="*/ 367836 h 606439"/>
                    <a:gd name="connsiteX28" fmla="*/ 294186 w 521831"/>
                    <a:gd name="connsiteY28" fmla="*/ 351693 h 606439"/>
                    <a:gd name="connsiteX29" fmla="*/ 298208 w 521831"/>
                    <a:gd name="connsiteY29" fmla="*/ 349266 h 606439"/>
                    <a:gd name="connsiteX30" fmla="*/ 298863 w 521831"/>
                    <a:gd name="connsiteY30" fmla="*/ 349080 h 606439"/>
                    <a:gd name="connsiteX31" fmla="*/ 299331 w 521831"/>
                    <a:gd name="connsiteY31" fmla="*/ 348893 h 606439"/>
                    <a:gd name="connsiteX32" fmla="*/ 300547 w 521831"/>
                    <a:gd name="connsiteY32" fmla="*/ 348613 h 606439"/>
                    <a:gd name="connsiteX33" fmla="*/ 300734 w 521831"/>
                    <a:gd name="connsiteY33" fmla="*/ 348520 h 606439"/>
                    <a:gd name="connsiteX34" fmla="*/ 301296 w 521831"/>
                    <a:gd name="connsiteY34" fmla="*/ 348427 h 606439"/>
                    <a:gd name="connsiteX35" fmla="*/ 303728 w 521831"/>
                    <a:gd name="connsiteY35" fmla="*/ 348240 h 606439"/>
                    <a:gd name="connsiteX36" fmla="*/ 318603 w 521831"/>
                    <a:gd name="connsiteY36" fmla="*/ 362330 h 606439"/>
                    <a:gd name="connsiteX37" fmla="*/ 318603 w 521831"/>
                    <a:gd name="connsiteY37" fmla="*/ 393404 h 606439"/>
                    <a:gd name="connsiteX38" fmla="*/ 303728 w 521831"/>
                    <a:gd name="connsiteY38" fmla="*/ 407868 h 606439"/>
                    <a:gd name="connsiteX39" fmla="*/ 294747 w 521831"/>
                    <a:gd name="connsiteY39" fmla="*/ 404882 h 606439"/>
                    <a:gd name="connsiteX40" fmla="*/ 275475 w 521831"/>
                    <a:gd name="connsiteY40" fmla="*/ 387619 h 606439"/>
                    <a:gd name="connsiteX41" fmla="*/ 260880 w 521831"/>
                    <a:gd name="connsiteY41" fmla="*/ 387712 h 606439"/>
                    <a:gd name="connsiteX42" fmla="*/ 246193 w 521831"/>
                    <a:gd name="connsiteY42" fmla="*/ 387619 h 606439"/>
                    <a:gd name="connsiteX43" fmla="*/ 227014 w 521831"/>
                    <a:gd name="connsiteY43" fmla="*/ 404882 h 606439"/>
                    <a:gd name="connsiteX44" fmla="*/ 218033 w 521831"/>
                    <a:gd name="connsiteY44" fmla="*/ 407868 h 606439"/>
                    <a:gd name="connsiteX45" fmla="*/ 203158 w 521831"/>
                    <a:gd name="connsiteY45" fmla="*/ 393404 h 606439"/>
                    <a:gd name="connsiteX46" fmla="*/ 203158 w 521831"/>
                    <a:gd name="connsiteY46" fmla="*/ 362330 h 606439"/>
                    <a:gd name="connsiteX47" fmla="*/ 218033 w 521831"/>
                    <a:gd name="connsiteY47" fmla="*/ 348240 h 606439"/>
                    <a:gd name="connsiteX48" fmla="*/ 260891 w 521831"/>
                    <a:gd name="connsiteY48" fmla="*/ 0 h 606439"/>
                    <a:gd name="connsiteX49" fmla="*/ 433412 w 521831"/>
                    <a:gd name="connsiteY49" fmla="*/ 57425 h 606439"/>
                    <a:gd name="connsiteX50" fmla="*/ 400591 w 521831"/>
                    <a:gd name="connsiteY50" fmla="*/ 80301 h 606439"/>
                    <a:gd name="connsiteX51" fmla="*/ 389183 w 521831"/>
                    <a:gd name="connsiteY51" fmla="*/ 96361 h 606439"/>
                    <a:gd name="connsiteX52" fmla="*/ 378149 w 521831"/>
                    <a:gd name="connsiteY52" fmla="*/ 134457 h 606439"/>
                    <a:gd name="connsiteX53" fmla="*/ 378056 w 521831"/>
                    <a:gd name="connsiteY53" fmla="*/ 135578 h 606439"/>
                    <a:gd name="connsiteX54" fmla="*/ 370575 w 521831"/>
                    <a:gd name="connsiteY54" fmla="*/ 186560 h 606439"/>
                    <a:gd name="connsiteX55" fmla="*/ 381142 w 521831"/>
                    <a:gd name="connsiteY55" fmla="*/ 210837 h 606439"/>
                    <a:gd name="connsiteX56" fmla="*/ 353931 w 521831"/>
                    <a:gd name="connsiteY56" fmla="*/ 260044 h 606439"/>
                    <a:gd name="connsiteX57" fmla="*/ 296143 w 521831"/>
                    <a:gd name="connsiteY57" fmla="*/ 330261 h 606439"/>
                    <a:gd name="connsiteX58" fmla="*/ 260891 w 521831"/>
                    <a:gd name="connsiteY58" fmla="*/ 338291 h 606439"/>
                    <a:gd name="connsiteX59" fmla="*/ 225639 w 521831"/>
                    <a:gd name="connsiteY59" fmla="*/ 330261 h 606439"/>
                    <a:gd name="connsiteX60" fmla="*/ 167758 w 521831"/>
                    <a:gd name="connsiteY60" fmla="*/ 260044 h 606439"/>
                    <a:gd name="connsiteX61" fmla="*/ 140548 w 521831"/>
                    <a:gd name="connsiteY61" fmla="*/ 210837 h 606439"/>
                    <a:gd name="connsiteX62" fmla="*/ 151207 w 521831"/>
                    <a:gd name="connsiteY62" fmla="*/ 186560 h 606439"/>
                    <a:gd name="connsiteX63" fmla="*/ 143727 w 521831"/>
                    <a:gd name="connsiteY63" fmla="*/ 135578 h 606439"/>
                    <a:gd name="connsiteX64" fmla="*/ 143633 w 521831"/>
                    <a:gd name="connsiteY64" fmla="*/ 134457 h 606439"/>
                    <a:gd name="connsiteX65" fmla="*/ 132599 w 521831"/>
                    <a:gd name="connsiteY65" fmla="*/ 96361 h 606439"/>
                    <a:gd name="connsiteX66" fmla="*/ 121192 w 521831"/>
                    <a:gd name="connsiteY66" fmla="*/ 80301 h 606439"/>
                    <a:gd name="connsiteX67" fmla="*/ 88277 w 521831"/>
                    <a:gd name="connsiteY67" fmla="*/ 57425 h 606439"/>
                    <a:gd name="connsiteX68" fmla="*/ 260891 w 521831"/>
                    <a:gd name="connsiteY68"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1831" h="606439">
                      <a:moveTo>
                        <a:pt x="176656" y="380983"/>
                      </a:moveTo>
                      <a:cubicBezTo>
                        <a:pt x="181238" y="380983"/>
                        <a:pt x="185072" y="383691"/>
                        <a:pt x="186943" y="387521"/>
                      </a:cubicBezTo>
                      <a:cubicBezTo>
                        <a:pt x="204711" y="417314"/>
                        <a:pt x="237817" y="495486"/>
                        <a:pt x="260916" y="497073"/>
                      </a:cubicBezTo>
                      <a:cubicBezTo>
                        <a:pt x="284014" y="495486"/>
                        <a:pt x="317026" y="417314"/>
                        <a:pt x="334888" y="387521"/>
                      </a:cubicBezTo>
                      <a:cubicBezTo>
                        <a:pt x="336665" y="383691"/>
                        <a:pt x="340593" y="380983"/>
                        <a:pt x="345082" y="380983"/>
                      </a:cubicBezTo>
                      <a:cubicBezTo>
                        <a:pt x="347233" y="380983"/>
                        <a:pt x="349103" y="381637"/>
                        <a:pt x="350786" y="382571"/>
                      </a:cubicBezTo>
                      <a:cubicBezTo>
                        <a:pt x="357239" y="386026"/>
                        <a:pt x="394927" y="408441"/>
                        <a:pt x="416530" y="416286"/>
                      </a:cubicBezTo>
                      <a:cubicBezTo>
                        <a:pt x="489193" y="442437"/>
                        <a:pt x="521831" y="469055"/>
                        <a:pt x="521831" y="487267"/>
                      </a:cubicBezTo>
                      <a:lnTo>
                        <a:pt x="521831" y="606439"/>
                      </a:lnTo>
                      <a:lnTo>
                        <a:pt x="260916" y="606439"/>
                      </a:lnTo>
                      <a:lnTo>
                        <a:pt x="0" y="606439"/>
                      </a:lnTo>
                      <a:lnTo>
                        <a:pt x="0" y="487267"/>
                      </a:lnTo>
                      <a:cubicBezTo>
                        <a:pt x="0" y="469055"/>
                        <a:pt x="32638" y="442437"/>
                        <a:pt x="105301" y="416286"/>
                      </a:cubicBezTo>
                      <a:cubicBezTo>
                        <a:pt x="126904" y="408441"/>
                        <a:pt x="164592" y="386026"/>
                        <a:pt x="170951" y="382571"/>
                      </a:cubicBezTo>
                      <a:cubicBezTo>
                        <a:pt x="172634" y="381637"/>
                        <a:pt x="174598" y="380983"/>
                        <a:pt x="176656" y="380983"/>
                      </a:cubicBezTo>
                      <a:close/>
                      <a:moveTo>
                        <a:pt x="218033" y="348240"/>
                      </a:moveTo>
                      <a:cubicBezTo>
                        <a:pt x="218875" y="348240"/>
                        <a:pt x="219623" y="348333"/>
                        <a:pt x="220372" y="348427"/>
                      </a:cubicBezTo>
                      <a:cubicBezTo>
                        <a:pt x="220559" y="348520"/>
                        <a:pt x="220840" y="348520"/>
                        <a:pt x="221027" y="348520"/>
                      </a:cubicBezTo>
                      <a:cubicBezTo>
                        <a:pt x="221027" y="348520"/>
                        <a:pt x="221120" y="348613"/>
                        <a:pt x="221120" y="348613"/>
                      </a:cubicBezTo>
                      <a:cubicBezTo>
                        <a:pt x="221588" y="348707"/>
                        <a:pt x="221962" y="348800"/>
                        <a:pt x="222336" y="348893"/>
                      </a:cubicBezTo>
                      <a:cubicBezTo>
                        <a:pt x="222524" y="348893"/>
                        <a:pt x="222711" y="348987"/>
                        <a:pt x="222898" y="349080"/>
                      </a:cubicBezTo>
                      <a:cubicBezTo>
                        <a:pt x="223085" y="349173"/>
                        <a:pt x="223272" y="349173"/>
                        <a:pt x="223553" y="349266"/>
                      </a:cubicBezTo>
                      <a:cubicBezTo>
                        <a:pt x="224956" y="349920"/>
                        <a:pt x="226359" y="350666"/>
                        <a:pt x="227575" y="351693"/>
                      </a:cubicBezTo>
                      <a:cubicBezTo>
                        <a:pt x="234498" y="357105"/>
                        <a:pt x="238989" y="367183"/>
                        <a:pt x="247783" y="367836"/>
                      </a:cubicBezTo>
                      <a:cubicBezTo>
                        <a:pt x="248625" y="367929"/>
                        <a:pt x="249467" y="367929"/>
                        <a:pt x="250309" y="367929"/>
                      </a:cubicBezTo>
                      <a:cubicBezTo>
                        <a:pt x="251151" y="367929"/>
                        <a:pt x="256390" y="367836"/>
                        <a:pt x="260880" y="367836"/>
                      </a:cubicBezTo>
                      <a:cubicBezTo>
                        <a:pt x="265371" y="367836"/>
                        <a:pt x="270610" y="367929"/>
                        <a:pt x="271358" y="367929"/>
                      </a:cubicBezTo>
                      <a:cubicBezTo>
                        <a:pt x="272294" y="367929"/>
                        <a:pt x="273136" y="367929"/>
                        <a:pt x="273978" y="367836"/>
                      </a:cubicBezTo>
                      <a:cubicBezTo>
                        <a:pt x="282772" y="367183"/>
                        <a:pt x="287169" y="357105"/>
                        <a:pt x="294186" y="351693"/>
                      </a:cubicBezTo>
                      <a:cubicBezTo>
                        <a:pt x="295402" y="350666"/>
                        <a:pt x="296711" y="349920"/>
                        <a:pt x="298208" y="349266"/>
                      </a:cubicBezTo>
                      <a:cubicBezTo>
                        <a:pt x="298395" y="349173"/>
                        <a:pt x="298676" y="349173"/>
                        <a:pt x="298863" y="349080"/>
                      </a:cubicBezTo>
                      <a:cubicBezTo>
                        <a:pt x="299050" y="348987"/>
                        <a:pt x="299237" y="348893"/>
                        <a:pt x="299331" y="348893"/>
                      </a:cubicBezTo>
                      <a:cubicBezTo>
                        <a:pt x="299799" y="348800"/>
                        <a:pt x="300173" y="348707"/>
                        <a:pt x="300547" y="348613"/>
                      </a:cubicBezTo>
                      <a:cubicBezTo>
                        <a:pt x="300641" y="348613"/>
                        <a:pt x="300641" y="348520"/>
                        <a:pt x="300734" y="348520"/>
                      </a:cubicBezTo>
                      <a:cubicBezTo>
                        <a:pt x="300921" y="348520"/>
                        <a:pt x="301108" y="348520"/>
                        <a:pt x="301296" y="348427"/>
                      </a:cubicBezTo>
                      <a:cubicBezTo>
                        <a:pt x="302138" y="348333"/>
                        <a:pt x="302886" y="348240"/>
                        <a:pt x="303728" y="348240"/>
                      </a:cubicBezTo>
                      <a:cubicBezTo>
                        <a:pt x="311680" y="348240"/>
                        <a:pt x="318135" y="354492"/>
                        <a:pt x="318603" y="362330"/>
                      </a:cubicBezTo>
                      <a:lnTo>
                        <a:pt x="318603" y="393404"/>
                      </a:lnTo>
                      <a:cubicBezTo>
                        <a:pt x="318322" y="401429"/>
                        <a:pt x="311774" y="407868"/>
                        <a:pt x="303728" y="407868"/>
                      </a:cubicBezTo>
                      <a:cubicBezTo>
                        <a:pt x="300360" y="407868"/>
                        <a:pt x="297273" y="406748"/>
                        <a:pt x="294747" y="404882"/>
                      </a:cubicBezTo>
                      <a:cubicBezTo>
                        <a:pt x="286327" y="399376"/>
                        <a:pt x="280620" y="387899"/>
                        <a:pt x="275475" y="387619"/>
                      </a:cubicBezTo>
                      <a:lnTo>
                        <a:pt x="260880" y="387712"/>
                      </a:lnTo>
                      <a:lnTo>
                        <a:pt x="246193" y="387619"/>
                      </a:lnTo>
                      <a:cubicBezTo>
                        <a:pt x="241047" y="387899"/>
                        <a:pt x="235434" y="399376"/>
                        <a:pt x="227014" y="404882"/>
                      </a:cubicBezTo>
                      <a:cubicBezTo>
                        <a:pt x="224488" y="406748"/>
                        <a:pt x="221401" y="407868"/>
                        <a:pt x="218033" y="407868"/>
                      </a:cubicBezTo>
                      <a:cubicBezTo>
                        <a:pt x="209894" y="407868"/>
                        <a:pt x="203345" y="401429"/>
                        <a:pt x="203158" y="393404"/>
                      </a:cubicBezTo>
                      <a:lnTo>
                        <a:pt x="203158" y="362330"/>
                      </a:lnTo>
                      <a:cubicBezTo>
                        <a:pt x="203532" y="354492"/>
                        <a:pt x="210081" y="348240"/>
                        <a:pt x="218033" y="348240"/>
                      </a:cubicBezTo>
                      <a:close/>
                      <a:moveTo>
                        <a:pt x="260891" y="0"/>
                      </a:moveTo>
                      <a:cubicBezTo>
                        <a:pt x="317557" y="0"/>
                        <a:pt x="433412" y="35949"/>
                        <a:pt x="433412" y="57425"/>
                      </a:cubicBezTo>
                      <a:cubicBezTo>
                        <a:pt x="433412" y="66015"/>
                        <a:pt x="421256" y="73858"/>
                        <a:pt x="400591" y="80301"/>
                      </a:cubicBezTo>
                      <a:cubicBezTo>
                        <a:pt x="399375" y="85997"/>
                        <a:pt x="395355" y="91412"/>
                        <a:pt x="389183" y="96361"/>
                      </a:cubicBezTo>
                      <a:cubicBezTo>
                        <a:pt x="388155" y="111394"/>
                        <a:pt x="384134" y="123906"/>
                        <a:pt x="378149" y="134457"/>
                      </a:cubicBezTo>
                      <a:cubicBezTo>
                        <a:pt x="378149" y="134831"/>
                        <a:pt x="378056" y="135204"/>
                        <a:pt x="378056" y="135578"/>
                      </a:cubicBezTo>
                      <a:cubicBezTo>
                        <a:pt x="375905" y="157801"/>
                        <a:pt x="370575" y="186560"/>
                        <a:pt x="370575" y="186560"/>
                      </a:cubicBezTo>
                      <a:cubicBezTo>
                        <a:pt x="370575" y="186560"/>
                        <a:pt x="381142" y="191415"/>
                        <a:pt x="381142" y="210837"/>
                      </a:cubicBezTo>
                      <a:cubicBezTo>
                        <a:pt x="377401" y="259764"/>
                        <a:pt x="357952" y="238662"/>
                        <a:pt x="353931" y="260044"/>
                      </a:cubicBezTo>
                      <a:cubicBezTo>
                        <a:pt x="347292" y="295713"/>
                        <a:pt x="315780" y="321390"/>
                        <a:pt x="296143" y="330261"/>
                      </a:cubicBezTo>
                      <a:cubicBezTo>
                        <a:pt x="284736" y="335396"/>
                        <a:pt x="273141" y="338011"/>
                        <a:pt x="260891" y="338291"/>
                      </a:cubicBezTo>
                      <a:cubicBezTo>
                        <a:pt x="248642" y="338011"/>
                        <a:pt x="236953" y="335396"/>
                        <a:pt x="225639" y="330261"/>
                      </a:cubicBezTo>
                      <a:cubicBezTo>
                        <a:pt x="206003" y="321390"/>
                        <a:pt x="174491" y="295713"/>
                        <a:pt x="167758" y="260044"/>
                      </a:cubicBezTo>
                      <a:cubicBezTo>
                        <a:pt x="163737" y="238662"/>
                        <a:pt x="144288" y="259764"/>
                        <a:pt x="140548" y="210837"/>
                      </a:cubicBezTo>
                      <a:cubicBezTo>
                        <a:pt x="140548" y="191415"/>
                        <a:pt x="151207" y="186560"/>
                        <a:pt x="151207" y="186560"/>
                      </a:cubicBezTo>
                      <a:cubicBezTo>
                        <a:pt x="151207" y="186560"/>
                        <a:pt x="145784" y="157801"/>
                        <a:pt x="143727" y="135578"/>
                      </a:cubicBezTo>
                      <a:cubicBezTo>
                        <a:pt x="143633" y="135204"/>
                        <a:pt x="143633" y="134831"/>
                        <a:pt x="143633" y="134457"/>
                      </a:cubicBezTo>
                      <a:cubicBezTo>
                        <a:pt x="137555" y="123906"/>
                        <a:pt x="133534" y="111394"/>
                        <a:pt x="132599" y="96361"/>
                      </a:cubicBezTo>
                      <a:cubicBezTo>
                        <a:pt x="126428" y="91412"/>
                        <a:pt x="122407" y="85997"/>
                        <a:pt x="121192" y="80301"/>
                      </a:cubicBezTo>
                      <a:cubicBezTo>
                        <a:pt x="100526" y="73858"/>
                        <a:pt x="88277" y="66015"/>
                        <a:pt x="88277" y="57425"/>
                      </a:cubicBezTo>
                      <a:cubicBezTo>
                        <a:pt x="88277" y="35949"/>
                        <a:pt x="204132" y="0"/>
                        <a:pt x="260891" y="0"/>
                      </a:cubicBezTo>
                      <a:close/>
                    </a:path>
                  </a:pathLst>
                </a:custGeom>
                <a:solidFill>
                  <a:schemeClr val="bg1"/>
                </a:solidFill>
                <a:ln>
                  <a:noFill/>
                </a:ln>
              </p:spPr>
              <p:txBody>
                <a:bodyPr/>
                <a:lstStyle/>
                <a:p>
                  <a:endParaRPr lang="zh-CN" altLang="en-US">
                    <a:cs typeface="+mn-ea"/>
                    <a:sym typeface="+mn-lt"/>
                  </a:endParaRPr>
                </a:p>
              </p:txBody>
            </p:sp>
          </p:grpSp>
          <p:grpSp>
            <p:nvGrpSpPr>
              <p:cNvPr id="17" name="组合 16"/>
              <p:cNvGrpSpPr/>
              <p:nvPr/>
            </p:nvGrpSpPr>
            <p:grpSpPr>
              <a:xfrm>
                <a:off x="6799714" y="4155439"/>
                <a:ext cx="2581275" cy="645160"/>
                <a:chOff x="3334619" y="4155439"/>
                <a:chExt cx="2581275" cy="645160"/>
              </a:xfrm>
            </p:grpSpPr>
            <p:grpSp>
              <p:nvGrpSpPr>
                <p:cNvPr id="18" name="组合 17"/>
                <p:cNvGrpSpPr/>
                <p:nvPr/>
              </p:nvGrpSpPr>
              <p:grpSpPr>
                <a:xfrm>
                  <a:off x="3334619" y="4155439"/>
                  <a:ext cx="2581275" cy="645160"/>
                  <a:chOff x="-284480" y="-1879601"/>
                  <a:chExt cx="2581275" cy="645160"/>
                </a:xfrm>
              </p:grpSpPr>
              <p:sp>
                <p:nvSpPr>
                  <p:cNvPr id="20" name="椭圆 19"/>
                  <p:cNvSpPr/>
                  <p:nvPr/>
                </p:nvSpPr>
                <p:spPr>
                  <a:xfrm flipV="1">
                    <a:off x="-284480" y="-1827525"/>
                    <a:ext cx="284480" cy="2844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rgbClr val="0F4983"/>
                      </a:solidFill>
                      <a:cs typeface="+mn-ea"/>
                      <a:sym typeface="+mn-lt"/>
                    </a:endParaRPr>
                  </a:p>
                </p:txBody>
              </p:sp>
              <p:sp>
                <p:nvSpPr>
                  <p:cNvPr id="21" name="文本框 20"/>
                  <p:cNvSpPr txBox="1"/>
                  <p:nvPr/>
                </p:nvSpPr>
                <p:spPr>
                  <a:xfrm>
                    <a:off x="0" y="-1879601"/>
                    <a:ext cx="2296795" cy="645160"/>
                  </a:xfrm>
                  <a:prstGeom prst="rect">
                    <a:avLst/>
                  </a:prstGeom>
                  <a:noFill/>
                </p:spPr>
                <p:txBody>
                  <a:bodyPr wrap="square" rtlCol="0">
                    <a:spAutoFit/>
                  </a:bodyPr>
                  <a:lstStyle/>
                  <a:p>
                    <a:r>
                      <a:rPr lang="en-US" altLang="zh-CN">
                        <a:solidFill>
                          <a:schemeClr val="accent1"/>
                        </a:solidFill>
                        <a:cs typeface="+mn-ea"/>
                        <a:sym typeface="+mn-lt"/>
                      </a:rPr>
                      <a:t>Time: 2026.3.15</a:t>
                    </a:r>
                    <a:endParaRPr lang="zh-CN" altLang="en-US" dirty="0">
                      <a:solidFill>
                        <a:schemeClr val="accent1"/>
                      </a:solidFill>
                      <a:cs typeface="+mn-ea"/>
                      <a:sym typeface="+mn-lt"/>
                    </a:endParaRPr>
                  </a:p>
                </p:txBody>
              </p:sp>
            </p:grpSp>
            <p:sp>
              <p:nvSpPr>
                <p:cNvPr id="19" name="working-man-with-a-bow-and-a-hat_57080"/>
                <p:cNvSpPr>
                  <a:spLocks noChangeAspect="1"/>
                </p:cNvSpPr>
                <p:nvPr/>
              </p:nvSpPr>
              <p:spPr bwMode="auto">
                <a:xfrm>
                  <a:off x="3417873" y="4271434"/>
                  <a:ext cx="123854" cy="143934"/>
                </a:xfrm>
                <a:custGeom>
                  <a:avLst/>
                  <a:gdLst>
                    <a:gd name="connsiteX0" fmla="*/ 176656 w 521831"/>
                    <a:gd name="connsiteY0" fmla="*/ 380983 h 606439"/>
                    <a:gd name="connsiteX1" fmla="*/ 186943 w 521831"/>
                    <a:gd name="connsiteY1" fmla="*/ 387521 h 606439"/>
                    <a:gd name="connsiteX2" fmla="*/ 260916 w 521831"/>
                    <a:gd name="connsiteY2" fmla="*/ 497073 h 606439"/>
                    <a:gd name="connsiteX3" fmla="*/ 334888 w 521831"/>
                    <a:gd name="connsiteY3" fmla="*/ 387521 h 606439"/>
                    <a:gd name="connsiteX4" fmla="*/ 345082 w 521831"/>
                    <a:gd name="connsiteY4" fmla="*/ 380983 h 606439"/>
                    <a:gd name="connsiteX5" fmla="*/ 350786 w 521831"/>
                    <a:gd name="connsiteY5" fmla="*/ 382571 h 606439"/>
                    <a:gd name="connsiteX6" fmla="*/ 416530 w 521831"/>
                    <a:gd name="connsiteY6" fmla="*/ 416286 h 606439"/>
                    <a:gd name="connsiteX7" fmla="*/ 521831 w 521831"/>
                    <a:gd name="connsiteY7" fmla="*/ 487267 h 606439"/>
                    <a:gd name="connsiteX8" fmla="*/ 521831 w 521831"/>
                    <a:gd name="connsiteY8" fmla="*/ 606439 h 606439"/>
                    <a:gd name="connsiteX9" fmla="*/ 260916 w 521831"/>
                    <a:gd name="connsiteY9" fmla="*/ 606439 h 606439"/>
                    <a:gd name="connsiteX10" fmla="*/ 0 w 521831"/>
                    <a:gd name="connsiteY10" fmla="*/ 606439 h 606439"/>
                    <a:gd name="connsiteX11" fmla="*/ 0 w 521831"/>
                    <a:gd name="connsiteY11" fmla="*/ 487267 h 606439"/>
                    <a:gd name="connsiteX12" fmla="*/ 105301 w 521831"/>
                    <a:gd name="connsiteY12" fmla="*/ 416286 h 606439"/>
                    <a:gd name="connsiteX13" fmla="*/ 170951 w 521831"/>
                    <a:gd name="connsiteY13" fmla="*/ 382571 h 606439"/>
                    <a:gd name="connsiteX14" fmla="*/ 176656 w 521831"/>
                    <a:gd name="connsiteY14" fmla="*/ 380983 h 606439"/>
                    <a:gd name="connsiteX15" fmla="*/ 218033 w 521831"/>
                    <a:gd name="connsiteY15" fmla="*/ 348240 h 606439"/>
                    <a:gd name="connsiteX16" fmla="*/ 220372 w 521831"/>
                    <a:gd name="connsiteY16" fmla="*/ 348427 h 606439"/>
                    <a:gd name="connsiteX17" fmla="*/ 221027 w 521831"/>
                    <a:gd name="connsiteY17" fmla="*/ 348520 h 606439"/>
                    <a:gd name="connsiteX18" fmla="*/ 221120 w 521831"/>
                    <a:gd name="connsiteY18" fmla="*/ 348613 h 606439"/>
                    <a:gd name="connsiteX19" fmla="*/ 222336 w 521831"/>
                    <a:gd name="connsiteY19" fmla="*/ 348893 h 606439"/>
                    <a:gd name="connsiteX20" fmla="*/ 222898 w 521831"/>
                    <a:gd name="connsiteY20" fmla="*/ 349080 h 606439"/>
                    <a:gd name="connsiteX21" fmla="*/ 223553 w 521831"/>
                    <a:gd name="connsiteY21" fmla="*/ 349266 h 606439"/>
                    <a:gd name="connsiteX22" fmla="*/ 227575 w 521831"/>
                    <a:gd name="connsiteY22" fmla="*/ 351693 h 606439"/>
                    <a:gd name="connsiteX23" fmla="*/ 247783 w 521831"/>
                    <a:gd name="connsiteY23" fmla="*/ 367836 h 606439"/>
                    <a:gd name="connsiteX24" fmla="*/ 250309 w 521831"/>
                    <a:gd name="connsiteY24" fmla="*/ 367929 h 606439"/>
                    <a:gd name="connsiteX25" fmla="*/ 260880 w 521831"/>
                    <a:gd name="connsiteY25" fmla="*/ 367836 h 606439"/>
                    <a:gd name="connsiteX26" fmla="*/ 271358 w 521831"/>
                    <a:gd name="connsiteY26" fmla="*/ 367929 h 606439"/>
                    <a:gd name="connsiteX27" fmla="*/ 273978 w 521831"/>
                    <a:gd name="connsiteY27" fmla="*/ 367836 h 606439"/>
                    <a:gd name="connsiteX28" fmla="*/ 294186 w 521831"/>
                    <a:gd name="connsiteY28" fmla="*/ 351693 h 606439"/>
                    <a:gd name="connsiteX29" fmla="*/ 298208 w 521831"/>
                    <a:gd name="connsiteY29" fmla="*/ 349266 h 606439"/>
                    <a:gd name="connsiteX30" fmla="*/ 298863 w 521831"/>
                    <a:gd name="connsiteY30" fmla="*/ 349080 h 606439"/>
                    <a:gd name="connsiteX31" fmla="*/ 299331 w 521831"/>
                    <a:gd name="connsiteY31" fmla="*/ 348893 h 606439"/>
                    <a:gd name="connsiteX32" fmla="*/ 300547 w 521831"/>
                    <a:gd name="connsiteY32" fmla="*/ 348613 h 606439"/>
                    <a:gd name="connsiteX33" fmla="*/ 300734 w 521831"/>
                    <a:gd name="connsiteY33" fmla="*/ 348520 h 606439"/>
                    <a:gd name="connsiteX34" fmla="*/ 301296 w 521831"/>
                    <a:gd name="connsiteY34" fmla="*/ 348427 h 606439"/>
                    <a:gd name="connsiteX35" fmla="*/ 303728 w 521831"/>
                    <a:gd name="connsiteY35" fmla="*/ 348240 h 606439"/>
                    <a:gd name="connsiteX36" fmla="*/ 318603 w 521831"/>
                    <a:gd name="connsiteY36" fmla="*/ 362330 h 606439"/>
                    <a:gd name="connsiteX37" fmla="*/ 318603 w 521831"/>
                    <a:gd name="connsiteY37" fmla="*/ 393404 h 606439"/>
                    <a:gd name="connsiteX38" fmla="*/ 303728 w 521831"/>
                    <a:gd name="connsiteY38" fmla="*/ 407868 h 606439"/>
                    <a:gd name="connsiteX39" fmla="*/ 294747 w 521831"/>
                    <a:gd name="connsiteY39" fmla="*/ 404882 h 606439"/>
                    <a:gd name="connsiteX40" fmla="*/ 275475 w 521831"/>
                    <a:gd name="connsiteY40" fmla="*/ 387619 h 606439"/>
                    <a:gd name="connsiteX41" fmla="*/ 260880 w 521831"/>
                    <a:gd name="connsiteY41" fmla="*/ 387712 h 606439"/>
                    <a:gd name="connsiteX42" fmla="*/ 246193 w 521831"/>
                    <a:gd name="connsiteY42" fmla="*/ 387619 h 606439"/>
                    <a:gd name="connsiteX43" fmla="*/ 227014 w 521831"/>
                    <a:gd name="connsiteY43" fmla="*/ 404882 h 606439"/>
                    <a:gd name="connsiteX44" fmla="*/ 218033 w 521831"/>
                    <a:gd name="connsiteY44" fmla="*/ 407868 h 606439"/>
                    <a:gd name="connsiteX45" fmla="*/ 203158 w 521831"/>
                    <a:gd name="connsiteY45" fmla="*/ 393404 h 606439"/>
                    <a:gd name="connsiteX46" fmla="*/ 203158 w 521831"/>
                    <a:gd name="connsiteY46" fmla="*/ 362330 h 606439"/>
                    <a:gd name="connsiteX47" fmla="*/ 218033 w 521831"/>
                    <a:gd name="connsiteY47" fmla="*/ 348240 h 606439"/>
                    <a:gd name="connsiteX48" fmla="*/ 260891 w 521831"/>
                    <a:gd name="connsiteY48" fmla="*/ 0 h 606439"/>
                    <a:gd name="connsiteX49" fmla="*/ 433412 w 521831"/>
                    <a:gd name="connsiteY49" fmla="*/ 57425 h 606439"/>
                    <a:gd name="connsiteX50" fmla="*/ 400591 w 521831"/>
                    <a:gd name="connsiteY50" fmla="*/ 80301 h 606439"/>
                    <a:gd name="connsiteX51" fmla="*/ 389183 w 521831"/>
                    <a:gd name="connsiteY51" fmla="*/ 96361 h 606439"/>
                    <a:gd name="connsiteX52" fmla="*/ 378149 w 521831"/>
                    <a:gd name="connsiteY52" fmla="*/ 134457 h 606439"/>
                    <a:gd name="connsiteX53" fmla="*/ 378056 w 521831"/>
                    <a:gd name="connsiteY53" fmla="*/ 135578 h 606439"/>
                    <a:gd name="connsiteX54" fmla="*/ 370575 w 521831"/>
                    <a:gd name="connsiteY54" fmla="*/ 186560 h 606439"/>
                    <a:gd name="connsiteX55" fmla="*/ 381142 w 521831"/>
                    <a:gd name="connsiteY55" fmla="*/ 210837 h 606439"/>
                    <a:gd name="connsiteX56" fmla="*/ 353931 w 521831"/>
                    <a:gd name="connsiteY56" fmla="*/ 260044 h 606439"/>
                    <a:gd name="connsiteX57" fmla="*/ 296143 w 521831"/>
                    <a:gd name="connsiteY57" fmla="*/ 330261 h 606439"/>
                    <a:gd name="connsiteX58" fmla="*/ 260891 w 521831"/>
                    <a:gd name="connsiteY58" fmla="*/ 338291 h 606439"/>
                    <a:gd name="connsiteX59" fmla="*/ 225639 w 521831"/>
                    <a:gd name="connsiteY59" fmla="*/ 330261 h 606439"/>
                    <a:gd name="connsiteX60" fmla="*/ 167758 w 521831"/>
                    <a:gd name="connsiteY60" fmla="*/ 260044 h 606439"/>
                    <a:gd name="connsiteX61" fmla="*/ 140548 w 521831"/>
                    <a:gd name="connsiteY61" fmla="*/ 210837 h 606439"/>
                    <a:gd name="connsiteX62" fmla="*/ 151207 w 521831"/>
                    <a:gd name="connsiteY62" fmla="*/ 186560 h 606439"/>
                    <a:gd name="connsiteX63" fmla="*/ 143727 w 521831"/>
                    <a:gd name="connsiteY63" fmla="*/ 135578 h 606439"/>
                    <a:gd name="connsiteX64" fmla="*/ 143633 w 521831"/>
                    <a:gd name="connsiteY64" fmla="*/ 134457 h 606439"/>
                    <a:gd name="connsiteX65" fmla="*/ 132599 w 521831"/>
                    <a:gd name="connsiteY65" fmla="*/ 96361 h 606439"/>
                    <a:gd name="connsiteX66" fmla="*/ 121192 w 521831"/>
                    <a:gd name="connsiteY66" fmla="*/ 80301 h 606439"/>
                    <a:gd name="connsiteX67" fmla="*/ 88277 w 521831"/>
                    <a:gd name="connsiteY67" fmla="*/ 57425 h 606439"/>
                    <a:gd name="connsiteX68" fmla="*/ 260891 w 521831"/>
                    <a:gd name="connsiteY68"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1831" h="606439">
                      <a:moveTo>
                        <a:pt x="176656" y="380983"/>
                      </a:moveTo>
                      <a:cubicBezTo>
                        <a:pt x="181238" y="380983"/>
                        <a:pt x="185072" y="383691"/>
                        <a:pt x="186943" y="387521"/>
                      </a:cubicBezTo>
                      <a:cubicBezTo>
                        <a:pt x="204711" y="417314"/>
                        <a:pt x="237817" y="495486"/>
                        <a:pt x="260916" y="497073"/>
                      </a:cubicBezTo>
                      <a:cubicBezTo>
                        <a:pt x="284014" y="495486"/>
                        <a:pt x="317026" y="417314"/>
                        <a:pt x="334888" y="387521"/>
                      </a:cubicBezTo>
                      <a:cubicBezTo>
                        <a:pt x="336665" y="383691"/>
                        <a:pt x="340593" y="380983"/>
                        <a:pt x="345082" y="380983"/>
                      </a:cubicBezTo>
                      <a:cubicBezTo>
                        <a:pt x="347233" y="380983"/>
                        <a:pt x="349103" y="381637"/>
                        <a:pt x="350786" y="382571"/>
                      </a:cubicBezTo>
                      <a:cubicBezTo>
                        <a:pt x="357239" y="386026"/>
                        <a:pt x="394927" y="408441"/>
                        <a:pt x="416530" y="416286"/>
                      </a:cubicBezTo>
                      <a:cubicBezTo>
                        <a:pt x="489193" y="442437"/>
                        <a:pt x="521831" y="469055"/>
                        <a:pt x="521831" y="487267"/>
                      </a:cubicBezTo>
                      <a:lnTo>
                        <a:pt x="521831" y="606439"/>
                      </a:lnTo>
                      <a:lnTo>
                        <a:pt x="260916" y="606439"/>
                      </a:lnTo>
                      <a:lnTo>
                        <a:pt x="0" y="606439"/>
                      </a:lnTo>
                      <a:lnTo>
                        <a:pt x="0" y="487267"/>
                      </a:lnTo>
                      <a:cubicBezTo>
                        <a:pt x="0" y="469055"/>
                        <a:pt x="32638" y="442437"/>
                        <a:pt x="105301" y="416286"/>
                      </a:cubicBezTo>
                      <a:cubicBezTo>
                        <a:pt x="126904" y="408441"/>
                        <a:pt x="164592" y="386026"/>
                        <a:pt x="170951" y="382571"/>
                      </a:cubicBezTo>
                      <a:cubicBezTo>
                        <a:pt x="172634" y="381637"/>
                        <a:pt x="174598" y="380983"/>
                        <a:pt x="176656" y="380983"/>
                      </a:cubicBezTo>
                      <a:close/>
                      <a:moveTo>
                        <a:pt x="218033" y="348240"/>
                      </a:moveTo>
                      <a:cubicBezTo>
                        <a:pt x="218875" y="348240"/>
                        <a:pt x="219623" y="348333"/>
                        <a:pt x="220372" y="348427"/>
                      </a:cubicBezTo>
                      <a:cubicBezTo>
                        <a:pt x="220559" y="348520"/>
                        <a:pt x="220840" y="348520"/>
                        <a:pt x="221027" y="348520"/>
                      </a:cubicBezTo>
                      <a:cubicBezTo>
                        <a:pt x="221027" y="348520"/>
                        <a:pt x="221120" y="348613"/>
                        <a:pt x="221120" y="348613"/>
                      </a:cubicBezTo>
                      <a:cubicBezTo>
                        <a:pt x="221588" y="348707"/>
                        <a:pt x="221962" y="348800"/>
                        <a:pt x="222336" y="348893"/>
                      </a:cubicBezTo>
                      <a:cubicBezTo>
                        <a:pt x="222524" y="348893"/>
                        <a:pt x="222711" y="348987"/>
                        <a:pt x="222898" y="349080"/>
                      </a:cubicBezTo>
                      <a:cubicBezTo>
                        <a:pt x="223085" y="349173"/>
                        <a:pt x="223272" y="349173"/>
                        <a:pt x="223553" y="349266"/>
                      </a:cubicBezTo>
                      <a:cubicBezTo>
                        <a:pt x="224956" y="349920"/>
                        <a:pt x="226359" y="350666"/>
                        <a:pt x="227575" y="351693"/>
                      </a:cubicBezTo>
                      <a:cubicBezTo>
                        <a:pt x="234498" y="357105"/>
                        <a:pt x="238989" y="367183"/>
                        <a:pt x="247783" y="367836"/>
                      </a:cubicBezTo>
                      <a:cubicBezTo>
                        <a:pt x="248625" y="367929"/>
                        <a:pt x="249467" y="367929"/>
                        <a:pt x="250309" y="367929"/>
                      </a:cubicBezTo>
                      <a:cubicBezTo>
                        <a:pt x="251151" y="367929"/>
                        <a:pt x="256390" y="367836"/>
                        <a:pt x="260880" y="367836"/>
                      </a:cubicBezTo>
                      <a:cubicBezTo>
                        <a:pt x="265371" y="367836"/>
                        <a:pt x="270610" y="367929"/>
                        <a:pt x="271358" y="367929"/>
                      </a:cubicBezTo>
                      <a:cubicBezTo>
                        <a:pt x="272294" y="367929"/>
                        <a:pt x="273136" y="367929"/>
                        <a:pt x="273978" y="367836"/>
                      </a:cubicBezTo>
                      <a:cubicBezTo>
                        <a:pt x="282772" y="367183"/>
                        <a:pt x="287169" y="357105"/>
                        <a:pt x="294186" y="351693"/>
                      </a:cubicBezTo>
                      <a:cubicBezTo>
                        <a:pt x="295402" y="350666"/>
                        <a:pt x="296711" y="349920"/>
                        <a:pt x="298208" y="349266"/>
                      </a:cubicBezTo>
                      <a:cubicBezTo>
                        <a:pt x="298395" y="349173"/>
                        <a:pt x="298676" y="349173"/>
                        <a:pt x="298863" y="349080"/>
                      </a:cubicBezTo>
                      <a:cubicBezTo>
                        <a:pt x="299050" y="348987"/>
                        <a:pt x="299237" y="348893"/>
                        <a:pt x="299331" y="348893"/>
                      </a:cubicBezTo>
                      <a:cubicBezTo>
                        <a:pt x="299799" y="348800"/>
                        <a:pt x="300173" y="348707"/>
                        <a:pt x="300547" y="348613"/>
                      </a:cubicBezTo>
                      <a:cubicBezTo>
                        <a:pt x="300641" y="348613"/>
                        <a:pt x="300641" y="348520"/>
                        <a:pt x="300734" y="348520"/>
                      </a:cubicBezTo>
                      <a:cubicBezTo>
                        <a:pt x="300921" y="348520"/>
                        <a:pt x="301108" y="348520"/>
                        <a:pt x="301296" y="348427"/>
                      </a:cubicBezTo>
                      <a:cubicBezTo>
                        <a:pt x="302138" y="348333"/>
                        <a:pt x="302886" y="348240"/>
                        <a:pt x="303728" y="348240"/>
                      </a:cubicBezTo>
                      <a:cubicBezTo>
                        <a:pt x="311680" y="348240"/>
                        <a:pt x="318135" y="354492"/>
                        <a:pt x="318603" y="362330"/>
                      </a:cubicBezTo>
                      <a:lnTo>
                        <a:pt x="318603" y="393404"/>
                      </a:lnTo>
                      <a:cubicBezTo>
                        <a:pt x="318322" y="401429"/>
                        <a:pt x="311774" y="407868"/>
                        <a:pt x="303728" y="407868"/>
                      </a:cubicBezTo>
                      <a:cubicBezTo>
                        <a:pt x="300360" y="407868"/>
                        <a:pt x="297273" y="406748"/>
                        <a:pt x="294747" y="404882"/>
                      </a:cubicBezTo>
                      <a:cubicBezTo>
                        <a:pt x="286327" y="399376"/>
                        <a:pt x="280620" y="387899"/>
                        <a:pt x="275475" y="387619"/>
                      </a:cubicBezTo>
                      <a:lnTo>
                        <a:pt x="260880" y="387712"/>
                      </a:lnTo>
                      <a:lnTo>
                        <a:pt x="246193" y="387619"/>
                      </a:lnTo>
                      <a:cubicBezTo>
                        <a:pt x="241047" y="387899"/>
                        <a:pt x="235434" y="399376"/>
                        <a:pt x="227014" y="404882"/>
                      </a:cubicBezTo>
                      <a:cubicBezTo>
                        <a:pt x="224488" y="406748"/>
                        <a:pt x="221401" y="407868"/>
                        <a:pt x="218033" y="407868"/>
                      </a:cubicBezTo>
                      <a:cubicBezTo>
                        <a:pt x="209894" y="407868"/>
                        <a:pt x="203345" y="401429"/>
                        <a:pt x="203158" y="393404"/>
                      </a:cubicBezTo>
                      <a:lnTo>
                        <a:pt x="203158" y="362330"/>
                      </a:lnTo>
                      <a:cubicBezTo>
                        <a:pt x="203532" y="354492"/>
                        <a:pt x="210081" y="348240"/>
                        <a:pt x="218033" y="348240"/>
                      </a:cubicBezTo>
                      <a:close/>
                      <a:moveTo>
                        <a:pt x="260891" y="0"/>
                      </a:moveTo>
                      <a:cubicBezTo>
                        <a:pt x="317557" y="0"/>
                        <a:pt x="433412" y="35949"/>
                        <a:pt x="433412" y="57425"/>
                      </a:cubicBezTo>
                      <a:cubicBezTo>
                        <a:pt x="433412" y="66015"/>
                        <a:pt x="421256" y="73858"/>
                        <a:pt x="400591" y="80301"/>
                      </a:cubicBezTo>
                      <a:cubicBezTo>
                        <a:pt x="399375" y="85997"/>
                        <a:pt x="395355" y="91412"/>
                        <a:pt x="389183" y="96361"/>
                      </a:cubicBezTo>
                      <a:cubicBezTo>
                        <a:pt x="388155" y="111394"/>
                        <a:pt x="384134" y="123906"/>
                        <a:pt x="378149" y="134457"/>
                      </a:cubicBezTo>
                      <a:cubicBezTo>
                        <a:pt x="378149" y="134831"/>
                        <a:pt x="378056" y="135204"/>
                        <a:pt x="378056" y="135578"/>
                      </a:cubicBezTo>
                      <a:cubicBezTo>
                        <a:pt x="375905" y="157801"/>
                        <a:pt x="370575" y="186560"/>
                        <a:pt x="370575" y="186560"/>
                      </a:cubicBezTo>
                      <a:cubicBezTo>
                        <a:pt x="370575" y="186560"/>
                        <a:pt x="381142" y="191415"/>
                        <a:pt x="381142" y="210837"/>
                      </a:cubicBezTo>
                      <a:cubicBezTo>
                        <a:pt x="377401" y="259764"/>
                        <a:pt x="357952" y="238662"/>
                        <a:pt x="353931" y="260044"/>
                      </a:cubicBezTo>
                      <a:cubicBezTo>
                        <a:pt x="347292" y="295713"/>
                        <a:pt x="315780" y="321390"/>
                        <a:pt x="296143" y="330261"/>
                      </a:cubicBezTo>
                      <a:cubicBezTo>
                        <a:pt x="284736" y="335396"/>
                        <a:pt x="273141" y="338011"/>
                        <a:pt x="260891" y="338291"/>
                      </a:cubicBezTo>
                      <a:cubicBezTo>
                        <a:pt x="248642" y="338011"/>
                        <a:pt x="236953" y="335396"/>
                        <a:pt x="225639" y="330261"/>
                      </a:cubicBezTo>
                      <a:cubicBezTo>
                        <a:pt x="206003" y="321390"/>
                        <a:pt x="174491" y="295713"/>
                        <a:pt x="167758" y="260044"/>
                      </a:cubicBezTo>
                      <a:cubicBezTo>
                        <a:pt x="163737" y="238662"/>
                        <a:pt x="144288" y="259764"/>
                        <a:pt x="140548" y="210837"/>
                      </a:cubicBezTo>
                      <a:cubicBezTo>
                        <a:pt x="140548" y="191415"/>
                        <a:pt x="151207" y="186560"/>
                        <a:pt x="151207" y="186560"/>
                      </a:cubicBezTo>
                      <a:cubicBezTo>
                        <a:pt x="151207" y="186560"/>
                        <a:pt x="145784" y="157801"/>
                        <a:pt x="143727" y="135578"/>
                      </a:cubicBezTo>
                      <a:cubicBezTo>
                        <a:pt x="143633" y="135204"/>
                        <a:pt x="143633" y="134831"/>
                        <a:pt x="143633" y="134457"/>
                      </a:cubicBezTo>
                      <a:cubicBezTo>
                        <a:pt x="137555" y="123906"/>
                        <a:pt x="133534" y="111394"/>
                        <a:pt x="132599" y="96361"/>
                      </a:cubicBezTo>
                      <a:cubicBezTo>
                        <a:pt x="126428" y="91412"/>
                        <a:pt x="122407" y="85997"/>
                        <a:pt x="121192" y="80301"/>
                      </a:cubicBezTo>
                      <a:cubicBezTo>
                        <a:pt x="100526" y="73858"/>
                        <a:pt x="88277" y="66015"/>
                        <a:pt x="88277" y="57425"/>
                      </a:cubicBezTo>
                      <a:cubicBezTo>
                        <a:pt x="88277" y="35949"/>
                        <a:pt x="204132" y="0"/>
                        <a:pt x="260891" y="0"/>
                      </a:cubicBezTo>
                      <a:close/>
                    </a:path>
                  </a:pathLst>
                </a:custGeom>
                <a:solidFill>
                  <a:schemeClr val="bg1"/>
                </a:solidFill>
                <a:ln>
                  <a:noFill/>
                </a:ln>
              </p:spPr>
              <p:txBody>
                <a:bodyPr/>
                <a:lstStyle/>
                <a:p>
                  <a:endParaRPr lang="zh-CN" altLang="en-US">
                    <a:cs typeface="+mn-ea"/>
                    <a:sym typeface="+mn-lt"/>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850900" y="720725"/>
            <a:ext cx="10490200" cy="5416550"/>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文本框 26"/>
          <p:cNvSpPr txBox="1"/>
          <p:nvPr/>
        </p:nvSpPr>
        <p:spPr>
          <a:xfrm>
            <a:off x="4618673" y="1206500"/>
            <a:ext cx="3887474" cy="923330"/>
          </a:xfrm>
          <a:prstGeom prst="rect">
            <a:avLst/>
          </a:prstGeom>
          <a:noFill/>
        </p:spPr>
        <p:txBody>
          <a:bodyPr wrap="none" rtlCol="0">
            <a:spAutoFit/>
          </a:bodyPr>
          <a:lstStyle>
            <a:defPPr>
              <a:defRPr lang="zh-CN"/>
            </a:defPPr>
            <a:lvl1pPr>
              <a:defRPr sz="4400" b="1">
                <a:solidFill>
                  <a:srgbClr val="0F4983"/>
                </a:solidFill>
                <a:latin typeface="汉仪书宋一简" panose="02010600000101010101" pitchFamily="2" charset="-122"/>
                <a:ea typeface="汉仪书宋一简" panose="02010600000101010101" pitchFamily="2" charset="-122"/>
                <a:cs typeface="汉仪全唐诗简" panose="00020600040101010101" pitchFamily="18" charset="-122"/>
              </a:defRPr>
            </a:lvl1pPr>
          </a:lstStyle>
          <a:p>
            <a:r>
              <a:rPr lang="en-US" altLang="zh-CN" sz="5400">
                <a:solidFill>
                  <a:schemeClr val="accent1"/>
                </a:solidFill>
                <a:latin typeface="+mn-lt"/>
                <a:ea typeface="+mn-ea"/>
                <a:cs typeface="+mn-ea"/>
                <a:sym typeface="+mn-lt"/>
              </a:rPr>
              <a:t>CONTENTS</a:t>
            </a:r>
            <a:endParaRPr lang="zh-CN" altLang="en-US" sz="5400" dirty="0">
              <a:solidFill>
                <a:schemeClr val="accent1"/>
              </a:solidFill>
              <a:latin typeface="+mn-lt"/>
              <a:ea typeface="+mn-ea"/>
              <a:cs typeface="+mn-ea"/>
              <a:sym typeface="+mn-lt"/>
            </a:endParaRPr>
          </a:p>
        </p:txBody>
      </p:sp>
      <p:sp>
        <p:nvSpPr>
          <p:cNvPr id="48" name="文本框 47"/>
          <p:cNvSpPr txBox="1"/>
          <p:nvPr>
            <p:custDataLst>
              <p:tags r:id="rId1"/>
            </p:custDataLst>
          </p:nvPr>
        </p:nvSpPr>
        <p:spPr>
          <a:xfrm>
            <a:off x="1379485" y="2400202"/>
            <a:ext cx="787395" cy="707886"/>
          </a:xfrm>
          <a:prstGeom prst="rect">
            <a:avLst/>
          </a:prstGeom>
          <a:noFill/>
        </p:spPr>
        <p:txBody>
          <a:bodyPr wrap="none" rtlCol="0">
            <a:spAutoFit/>
          </a:bodyPr>
          <a:lstStyle/>
          <a:p>
            <a:r>
              <a:rPr lang="en-US" altLang="zh-CN" sz="4000" dirty="0">
                <a:solidFill>
                  <a:schemeClr val="accent1"/>
                </a:solidFill>
                <a:cs typeface="+mn-ea"/>
                <a:sym typeface="+mn-lt"/>
              </a:rPr>
              <a:t>01</a:t>
            </a:r>
            <a:endParaRPr lang="zh-CN" altLang="en-US" sz="4000" dirty="0">
              <a:solidFill>
                <a:schemeClr val="accent1"/>
              </a:solidFill>
              <a:cs typeface="+mn-ea"/>
              <a:sym typeface="+mn-lt"/>
            </a:endParaRPr>
          </a:p>
        </p:txBody>
      </p:sp>
      <p:cxnSp>
        <p:nvCxnSpPr>
          <p:cNvPr id="49" name="直接连接符 48"/>
          <p:cNvCxnSpPr/>
          <p:nvPr>
            <p:custDataLst>
              <p:tags r:id="rId2"/>
            </p:custDataLst>
          </p:nvPr>
        </p:nvCxnSpPr>
        <p:spPr>
          <a:xfrm flipH="1">
            <a:off x="2113410" y="2552437"/>
            <a:ext cx="124460" cy="40341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1" name="文本框 50"/>
          <p:cNvSpPr txBox="1"/>
          <p:nvPr>
            <p:custDataLst>
              <p:tags r:id="rId3"/>
            </p:custDataLst>
          </p:nvPr>
        </p:nvSpPr>
        <p:spPr>
          <a:xfrm>
            <a:off x="2230384" y="2533758"/>
            <a:ext cx="4112881" cy="398780"/>
          </a:xfrm>
          <a:prstGeom prst="rect">
            <a:avLst/>
          </a:prstGeom>
          <a:noFill/>
        </p:spPr>
        <p:txBody>
          <a:bodyPr wrap="square" rtlCol="0">
            <a:spAutoFit/>
          </a:bodyPr>
          <a:lstStyle/>
          <a:p>
            <a:r>
              <a:rPr lang="zh-CN" altLang="en-US" sz="2000">
                <a:solidFill>
                  <a:schemeClr val="accent1"/>
                </a:solidFill>
                <a:cs typeface="+mn-ea"/>
                <a:sym typeface="+mn-lt"/>
              </a:rPr>
              <a:t>研究背景</a:t>
            </a:r>
          </a:p>
        </p:txBody>
      </p:sp>
      <p:sp>
        <p:nvSpPr>
          <p:cNvPr id="43" name="文本框 42"/>
          <p:cNvSpPr txBox="1"/>
          <p:nvPr>
            <p:custDataLst>
              <p:tags r:id="rId4"/>
            </p:custDataLst>
          </p:nvPr>
        </p:nvSpPr>
        <p:spPr>
          <a:xfrm>
            <a:off x="6406771" y="2400202"/>
            <a:ext cx="787395" cy="707886"/>
          </a:xfrm>
          <a:prstGeom prst="rect">
            <a:avLst/>
          </a:prstGeom>
          <a:noFill/>
        </p:spPr>
        <p:txBody>
          <a:bodyPr wrap="none" rtlCol="0">
            <a:spAutoFit/>
          </a:bodyPr>
          <a:lstStyle/>
          <a:p>
            <a:r>
              <a:rPr lang="en-US" altLang="zh-CN" sz="4000" dirty="0">
                <a:solidFill>
                  <a:schemeClr val="accent1"/>
                </a:solidFill>
                <a:cs typeface="+mn-ea"/>
                <a:sym typeface="+mn-lt"/>
              </a:rPr>
              <a:t>02</a:t>
            </a:r>
            <a:endParaRPr lang="zh-CN" altLang="en-US" sz="4000" dirty="0">
              <a:solidFill>
                <a:schemeClr val="accent1"/>
              </a:solidFill>
              <a:cs typeface="+mn-ea"/>
              <a:sym typeface="+mn-lt"/>
            </a:endParaRPr>
          </a:p>
        </p:txBody>
      </p:sp>
      <p:cxnSp>
        <p:nvCxnSpPr>
          <p:cNvPr id="44" name="直接连接符 43"/>
          <p:cNvCxnSpPr/>
          <p:nvPr>
            <p:custDataLst>
              <p:tags r:id="rId5"/>
            </p:custDataLst>
          </p:nvPr>
        </p:nvCxnSpPr>
        <p:spPr>
          <a:xfrm flipH="1">
            <a:off x="7140696" y="2552437"/>
            <a:ext cx="124460" cy="40341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6"/>
            </p:custDataLst>
          </p:nvPr>
        </p:nvSpPr>
        <p:spPr>
          <a:xfrm>
            <a:off x="7257671" y="2533758"/>
            <a:ext cx="3853330" cy="400110"/>
          </a:xfrm>
          <a:prstGeom prst="rect">
            <a:avLst/>
          </a:prstGeom>
          <a:noFill/>
        </p:spPr>
        <p:txBody>
          <a:bodyPr wrap="square" rtlCol="0">
            <a:spAutoFit/>
          </a:bodyPr>
          <a:lstStyle/>
          <a:p>
            <a:r>
              <a:rPr lang="zh-CN" altLang="en-US" sz="2000" dirty="0">
                <a:solidFill>
                  <a:schemeClr val="accent1"/>
                </a:solidFill>
                <a:cs typeface="+mn-ea"/>
                <a:sym typeface="+mn-lt"/>
              </a:rPr>
              <a:t>原理与数据集</a:t>
            </a:r>
            <a:endParaRPr lang="en-US" altLang="zh-CN" sz="2000" dirty="0">
              <a:solidFill>
                <a:schemeClr val="accent1"/>
              </a:solidFill>
              <a:cs typeface="+mn-ea"/>
              <a:sym typeface="+mn-lt"/>
            </a:endParaRPr>
          </a:p>
        </p:txBody>
      </p:sp>
      <p:sp>
        <p:nvSpPr>
          <p:cNvPr id="38" name="文本框 37"/>
          <p:cNvSpPr txBox="1"/>
          <p:nvPr>
            <p:custDataLst>
              <p:tags r:id="rId7"/>
            </p:custDataLst>
          </p:nvPr>
        </p:nvSpPr>
        <p:spPr>
          <a:xfrm>
            <a:off x="1379485" y="3458775"/>
            <a:ext cx="787395" cy="707886"/>
          </a:xfrm>
          <a:prstGeom prst="rect">
            <a:avLst/>
          </a:prstGeom>
          <a:noFill/>
        </p:spPr>
        <p:txBody>
          <a:bodyPr wrap="none" rtlCol="0">
            <a:spAutoFit/>
          </a:bodyPr>
          <a:lstStyle/>
          <a:p>
            <a:r>
              <a:rPr lang="en-US" altLang="zh-CN" sz="4000" dirty="0">
                <a:solidFill>
                  <a:schemeClr val="accent1"/>
                </a:solidFill>
                <a:cs typeface="+mn-ea"/>
                <a:sym typeface="+mn-lt"/>
              </a:rPr>
              <a:t>03</a:t>
            </a:r>
            <a:endParaRPr lang="zh-CN" altLang="en-US" sz="4000" dirty="0">
              <a:solidFill>
                <a:schemeClr val="accent1"/>
              </a:solidFill>
              <a:cs typeface="+mn-ea"/>
              <a:sym typeface="+mn-lt"/>
            </a:endParaRPr>
          </a:p>
        </p:txBody>
      </p:sp>
      <p:cxnSp>
        <p:nvCxnSpPr>
          <p:cNvPr id="39" name="直接连接符 38"/>
          <p:cNvCxnSpPr/>
          <p:nvPr>
            <p:custDataLst>
              <p:tags r:id="rId8"/>
            </p:custDataLst>
          </p:nvPr>
        </p:nvCxnSpPr>
        <p:spPr>
          <a:xfrm flipH="1">
            <a:off x="2113410" y="3611010"/>
            <a:ext cx="124460" cy="40341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custDataLst>
              <p:tags r:id="rId9"/>
            </p:custDataLst>
          </p:nvPr>
        </p:nvSpPr>
        <p:spPr>
          <a:xfrm>
            <a:off x="2230385" y="3592331"/>
            <a:ext cx="3853330" cy="400110"/>
          </a:xfrm>
          <a:prstGeom prst="rect">
            <a:avLst/>
          </a:prstGeom>
          <a:noFill/>
        </p:spPr>
        <p:txBody>
          <a:bodyPr wrap="square" rtlCol="0">
            <a:spAutoFit/>
          </a:bodyPr>
          <a:lstStyle/>
          <a:p>
            <a:r>
              <a:rPr lang="zh-CN" altLang="en-US" sz="2000" dirty="0">
                <a:solidFill>
                  <a:schemeClr val="accent1"/>
                </a:solidFill>
                <a:cs typeface="+mn-ea"/>
                <a:sym typeface="+mn-lt"/>
              </a:rPr>
              <a:t>分析</a:t>
            </a:r>
            <a:endParaRPr lang="en-US" altLang="zh-CN" sz="2000" dirty="0">
              <a:solidFill>
                <a:schemeClr val="accent1"/>
              </a:solidFill>
              <a:cs typeface="+mn-ea"/>
              <a:sym typeface="+mn-lt"/>
            </a:endParaRPr>
          </a:p>
        </p:txBody>
      </p:sp>
      <p:sp>
        <p:nvSpPr>
          <p:cNvPr id="33" name="文本框 32"/>
          <p:cNvSpPr txBox="1"/>
          <p:nvPr>
            <p:custDataLst>
              <p:tags r:id="rId10"/>
            </p:custDataLst>
          </p:nvPr>
        </p:nvSpPr>
        <p:spPr>
          <a:xfrm>
            <a:off x="6406771" y="3458775"/>
            <a:ext cx="787395" cy="707886"/>
          </a:xfrm>
          <a:prstGeom prst="rect">
            <a:avLst/>
          </a:prstGeom>
          <a:noFill/>
        </p:spPr>
        <p:txBody>
          <a:bodyPr wrap="none" rtlCol="0">
            <a:spAutoFit/>
          </a:bodyPr>
          <a:lstStyle/>
          <a:p>
            <a:r>
              <a:rPr lang="en-US" altLang="zh-CN" sz="4000" dirty="0">
                <a:solidFill>
                  <a:schemeClr val="accent1"/>
                </a:solidFill>
                <a:cs typeface="+mn-ea"/>
                <a:sym typeface="+mn-lt"/>
              </a:rPr>
              <a:t>04</a:t>
            </a:r>
            <a:endParaRPr lang="zh-CN" altLang="en-US" sz="4000" dirty="0">
              <a:solidFill>
                <a:schemeClr val="accent1"/>
              </a:solidFill>
              <a:cs typeface="+mn-ea"/>
              <a:sym typeface="+mn-lt"/>
            </a:endParaRPr>
          </a:p>
        </p:txBody>
      </p:sp>
      <p:cxnSp>
        <p:nvCxnSpPr>
          <p:cNvPr id="34" name="直接连接符 33"/>
          <p:cNvCxnSpPr/>
          <p:nvPr>
            <p:custDataLst>
              <p:tags r:id="rId11"/>
            </p:custDataLst>
          </p:nvPr>
        </p:nvCxnSpPr>
        <p:spPr>
          <a:xfrm flipH="1">
            <a:off x="7140696" y="3611010"/>
            <a:ext cx="124460" cy="403416"/>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文本框 35"/>
          <p:cNvSpPr txBox="1"/>
          <p:nvPr>
            <p:custDataLst>
              <p:tags r:id="rId12"/>
            </p:custDataLst>
          </p:nvPr>
        </p:nvSpPr>
        <p:spPr>
          <a:xfrm>
            <a:off x="7257671" y="3592331"/>
            <a:ext cx="3853330" cy="400110"/>
          </a:xfrm>
          <a:prstGeom prst="rect">
            <a:avLst/>
          </a:prstGeom>
          <a:noFill/>
        </p:spPr>
        <p:txBody>
          <a:bodyPr wrap="square" rtlCol="0">
            <a:spAutoFit/>
          </a:bodyPr>
          <a:lstStyle/>
          <a:p>
            <a:r>
              <a:rPr lang="zh-CN" altLang="en-US" sz="2000" dirty="0">
                <a:solidFill>
                  <a:schemeClr val="accent1"/>
                </a:solidFill>
                <a:cs typeface="+mn-ea"/>
                <a:sym typeface="+mn-lt"/>
              </a:rPr>
              <a:t>改进策略</a:t>
            </a:r>
            <a:endParaRPr lang="en-US" altLang="zh-CN" sz="2000" dirty="0">
              <a:solidFill>
                <a:schemeClr val="accent1"/>
              </a:solidFill>
              <a:cs typeface="+mn-ea"/>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3" name="组合 52"/>
          <p:cNvGrpSpPr/>
          <p:nvPr/>
        </p:nvGrpSpPr>
        <p:grpSpPr>
          <a:xfrm>
            <a:off x="4642268" y="1466820"/>
            <a:ext cx="2907463" cy="2303938"/>
            <a:chOff x="4642268" y="628546"/>
            <a:chExt cx="2907463" cy="2303938"/>
          </a:xfrm>
        </p:grpSpPr>
        <p:sp>
          <p:nvSpPr>
            <p:cNvPr id="54" name="文本框 53"/>
            <p:cNvSpPr txBox="1"/>
            <p:nvPr/>
          </p:nvSpPr>
          <p:spPr>
            <a:xfrm>
              <a:off x="4642268" y="2012232"/>
              <a:ext cx="2907463"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5200" dirty="0">
                  <a:solidFill>
                    <a:schemeClr val="accent1"/>
                  </a:solidFill>
                  <a:latin typeface="+mn-lt"/>
                  <a:ea typeface="+mn-ea"/>
                  <a:cs typeface="+mn-ea"/>
                  <a:sym typeface="+mn-lt"/>
                </a:rPr>
                <a:t>研究背景</a:t>
              </a:r>
              <a:endParaRPr lang="en-US" altLang="zh-CN" sz="5200" dirty="0">
                <a:solidFill>
                  <a:schemeClr val="accent1"/>
                </a:solidFill>
                <a:latin typeface="+mn-lt"/>
                <a:ea typeface="+mn-ea"/>
                <a:cs typeface="+mn-ea"/>
                <a:sym typeface="+mn-lt"/>
              </a:endParaRPr>
            </a:p>
          </p:txBody>
        </p:sp>
        <p:sp>
          <p:nvSpPr>
            <p:cNvPr id="56" name="文本框 55"/>
            <p:cNvSpPr txBox="1"/>
            <p:nvPr/>
          </p:nvSpPr>
          <p:spPr>
            <a:xfrm>
              <a:off x="5584193" y="628546"/>
              <a:ext cx="1023614"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en-US" altLang="zh-CN" sz="5200">
                  <a:solidFill>
                    <a:schemeClr val="accent2"/>
                  </a:solidFill>
                  <a:latin typeface="+mn-lt"/>
                  <a:ea typeface="+mn-ea"/>
                  <a:cs typeface="+mn-ea"/>
                  <a:sym typeface="+mn-lt"/>
                </a:rPr>
                <a:t>01</a:t>
              </a:r>
              <a:endParaRPr lang="zh-CN" altLang="en-US" sz="5200" dirty="0">
                <a:solidFill>
                  <a:schemeClr val="accent2"/>
                </a:solidFill>
                <a:latin typeface="+mn-lt"/>
                <a:ea typeface="+mn-ea"/>
                <a:cs typeface="+mn-ea"/>
                <a:sym typeface="+mn-l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2032000" cy="1219200"/>
            <a:chOff x="0" y="0"/>
            <a:chExt cx="4064000" cy="2438400"/>
          </a:xfrm>
        </p:grpSpPr>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p:cNvSpPr txBox="1"/>
          <p:nvPr/>
        </p:nvSpPr>
        <p:spPr>
          <a:xfrm>
            <a:off x="2032000" y="448256"/>
            <a:ext cx="1826141"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latin typeface="+mn-lt"/>
                <a:ea typeface="+mn-ea"/>
                <a:cs typeface="+mn-ea"/>
                <a:sym typeface="+mn-lt"/>
              </a:rPr>
              <a:t>研究背景</a:t>
            </a:r>
            <a:endParaRPr lang="en-US" altLang="zh-CN" sz="3200" dirty="0">
              <a:solidFill>
                <a:schemeClr val="accent1"/>
              </a:solidFill>
              <a:latin typeface="+mn-lt"/>
              <a:ea typeface="+mn-ea"/>
              <a:cs typeface="+mn-ea"/>
              <a:sym typeface="+mn-lt"/>
            </a:endParaRPr>
          </a:p>
        </p:txBody>
      </p:sp>
      <p:sp>
        <p:nvSpPr>
          <p:cNvPr id="28" name="文本框 27">
            <a:extLst>
              <a:ext uri="{FF2B5EF4-FFF2-40B4-BE49-F238E27FC236}">
                <a16:creationId xmlns:a16="http://schemas.microsoft.com/office/drawing/2014/main" id="{7E921990-7C83-180F-8948-F874532590EA}"/>
              </a:ext>
            </a:extLst>
          </p:cNvPr>
          <p:cNvSpPr txBox="1"/>
          <p:nvPr/>
        </p:nvSpPr>
        <p:spPr>
          <a:xfrm>
            <a:off x="1905001" y="1431636"/>
            <a:ext cx="8208817" cy="2031325"/>
          </a:xfrm>
          <a:prstGeom prst="rect">
            <a:avLst/>
          </a:prstGeom>
          <a:noFill/>
        </p:spPr>
        <p:txBody>
          <a:bodyPr wrap="square" rtlCol="0">
            <a:spAutoFit/>
          </a:bodyPr>
          <a:lstStyle/>
          <a:p>
            <a:r>
              <a:rPr lang="zh-CN" altLang="en-US" dirty="0"/>
              <a:t>当前</a:t>
            </a:r>
            <a:r>
              <a:rPr lang="en-US" altLang="zh-CN" dirty="0"/>
              <a:t>COD</a:t>
            </a:r>
            <a:r>
              <a:rPr lang="zh-CN" altLang="en-US" dirty="0"/>
              <a:t>无法对高度伪装物体（与环境高度相似）进行识别与分割，并且当前许多研究方法都是基于一张图片进行获取信息，获取的伪装物体的特征信息不够丰富。</a:t>
            </a:r>
            <a:endParaRPr lang="en-US" altLang="zh-CN" dirty="0"/>
          </a:p>
          <a:p>
            <a:endParaRPr lang="en-US" altLang="zh-CN" dirty="0"/>
          </a:p>
          <a:p>
            <a:r>
              <a:rPr lang="zh-CN" altLang="en-US" dirty="0"/>
              <a:t>在许多情况下，仅从一张图像中挖掘出足够有价值的线索来区分伪装对象是困难的，所以就想在多个不同的图像中联合分割相同的伪装对象</a:t>
            </a:r>
            <a:r>
              <a:rPr lang="en-US" altLang="zh-CN" dirty="0"/>
              <a:t>(</a:t>
            </a:r>
            <a:r>
              <a:rPr lang="zh-CN" altLang="en-US" dirty="0"/>
              <a:t>或相同类别的伪装对象</a:t>
            </a:r>
            <a:r>
              <a:rPr lang="en-US" altLang="zh-CN" dirty="0"/>
              <a:t>)</a:t>
            </a:r>
            <a:r>
              <a:rPr lang="zh-CN" altLang="en-US"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3" name="组合 52"/>
          <p:cNvGrpSpPr/>
          <p:nvPr/>
        </p:nvGrpSpPr>
        <p:grpSpPr>
          <a:xfrm>
            <a:off x="3975419" y="1466820"/>
            <a:ext cx="4241161" cy="2313174"/>
            <a:chOff x="3975419" y="628546"/>
            <a:chExt cx="4241161" cy="2313174"/>
          </a:xfrm>
        </p:grpSpPr>
        <p:sp>
          <p:nvSpPr>
            <p:cNvPr id="54" name="文本框 53"/>
            <p:cNvSpPr txBox="1"/>
            <p:nvPr/>
          </p:nvSpPr>
          <p:spPr>
            <a:xfrm>
              <a:off x="3975419" y="2021468"/>
              <a:ext cx="4241161"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5200" dirty="0">
                  <a:solidFill>
                    <a:schemeClr val="accent1"/>
                  </a:solidFill>
                  <a:latin typeface="+mn-lt"/>
                  <a:ea typeface="+mn-ea"/>
                  <a:cs typeface="+mn-ea"/>
                  <a:sym typeface="+mn-lt"/>
                </a:rPr>
                <a:t>原理与数据集</a:t>
              </a:r>
              <a:endParaRPr lang="en-US" altLang="zh-CN" sz="5200" dirty="0">
                <a:solidFill>
                  <a:schemeClr val="accent1"/>
                </a:solidFill>
                <a:latin typeface="+mn-lt"/>
                <a:ea typeface="+mn-ea"/>
                <a:cs typeface="+mn-ea"/>
                <a:sym typeface="+mn-lt"/>
              </a:endParaRPr>
            </a:p>
          </p:txBody>
        </p:sp>
        <p:sp>
          <p:nvSpPr>
            <p:cNvPr id="56" name="文本框 55"/>
            <p:cNvSpPr txBox="1"/>
            <p:nvPr/>
          </p:nvSpPr>
          <p:spPr>
            <a:xfrm>
              <a:off x="5584193" y="628546"/>
              <a:ext cx="1025537"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en-US" altLang="zh-CN" sz="5200">
                  <a:solidFill>
                    <a:schemeClr val="accent2"/>
                  </a:solidFill>
                  <a:latin typeface="+mn-lt"/>
                  <a:ea typeface="+mn-ea"/>
                  <a:cs typeface="+mn-ea"/>
                  <a:sym typeface="+mn-lt"/>
                </a:rPr>
                <a:t>02</a:t>
              </a:r>
              <a:endParaRPr lang="zh-CN" altLang="en-US" sz="5200" dirty="0">
                <a:solidFill>
                  <a:schemeClr val="accent2"/>
                </a:solidFill>
                <a:latin typeface="+mn-lt"/>
                <a:ea typeface="+mn-ea"/>
                <a:cs typeface="+mn-ea"/>
                <a:sym typeface="+mn-l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3D32-FB4B-CBF3-63A5-833199DBD5C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9985211-1254-A10B-84DE-F01981F4B04E}"/>
              </a:ext>
            </a:extLst>
          </p:cNvPr>
          <p:cNvGrpSpPr/>
          <p:nvPr/>
        </p:nvGrpSpPr>
        <p:grpSpPr>
          <a:xfrm>
            <a:off x="0" y="0"/>
            <a:ext cx="2032000" cy="1219200"/>
            <a:chOff x="0" y="0"/>
            <a:chExt cx="4064000" cy="2438400"/>
          </a:xfrm>
        </p:grpSpPr>
        <p:sp>
          <p:nvSpPr>
            <p:cNvPr id="10" name="直角三角形 9">
              <a:extLst>
                <a:ext uri="{FF2B5EF4-FFF2-40B4-BE49-F238E27FC236}">
                  <a16:creationId xmlns:a16="http://schemas.microsoft.com/office/drawing/2014/main" id="{B79444DF-92F9-AF12-4E59-66B28E83E0B3}"/>
                </a:ext>
              </a:extLst>
            </p:cNvPr>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a:extLst>
                <a:ext uri="{FF2B5EF4-FFF2-40B4-BE49-F238E27FC236}">
                  <a16:creationId xmlns:a16="http://schemas.microsoft.com/office/drawing/2014/main" id="{C6449106-83AF-BD58-CF5A-B54D06AE693B}"/>
                </a:ext>
              </a:extLst>
            </p:cNvPr>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a:extLst>
              <a:ext uri="{FF2B5EF4-FFF2-40B4-BE49-F238E27FC236}">
                <a16:creationId xmlns:a16="http://schemas.microsoft.com/office/drawing/2014/main" id="{46FAEE06-4B38-1C08-32E2-23AE86DB20AF}"/>
              </a:ext>
            </a:extLst>
          </p:cNvPr>
          <p:cNvSpPr txBox="1"/>
          <p:nvPr/>
        </p:nvSpPr>
        <p:spPr>
          <a:xfrm>
            <a:off x="1905001" y="448256"/>
            <a:ext cx="2646878"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cs typeface="+mn-ea"/>
                <a:sym typeface="+mn-lt"/>
              </a:rPr>
              <a:t>原理与数据集</a:t>
            </a:r>
            <a:endParaRPr lang="en-US" altLang="zh-CN" sz="3200" dirty="0">
              <a:solidFill>
                <a:schemeClr val="accent1"/>
              </a:solidFill>
              <a:cs typeface="+mn-ea"/>
              <a:sym typeface="+mn-lt"/>
            </a:endParaRPr>
          </a:p>
        </p:txBody>
      </p:sp>
      <p:sp>
        <p:nvSpPr>
          <p:cNvPr id="28" name="文本框 27">
            <a:extLst>
              <a:ext uri="{FF2B5EF4-FFF2-40B4-BE49-F238E27FC236}">
                <a16:creationId xmlns:a16="http://schemas.microsoft.com/office/drawing/2014/main" id="{56C3B854-0139-28F3-795E-DFC31EE60B2E}"/>
              </a:ext>
            </a:extLst>
          </p:cNvPr>
          <p:cNvSpPr txBox="1"/>
          <p:nvPr/>
        </p:nvSpPr>
        <p:spPr>
          <a:xfrm>
            <a:off x="1905001" y="1431636"/>
            <a:ext cx="8208817" cy="1754326"/>
          </a:xfrm>
          <a:prstGeom prst="rect">
            <a:avLst/>
          </a:prstGeom>
          <a:noFill/>
        </p:spPr>
        <p:txBody>
          <a:bodyPr wrap="square" rtlCol="0">
            <a:spAutoFit/>
          </a:bodyPr>
          <a:lstStyle/>
          <a:p>
            <a:r>
              <a:rPr lang="zh-CN" altLang="en-US" dirty="0"/>
              <a:t>动机：当人类观察到难以探测的目标时，视觉系统会本能地扫描相关的图像来搜索更多重要信息。</a:t>
            </a:r>
            <a:endParaRPr lang="en-US" altLang="zh-CN" dirty="0"/>
          </a:p>
          <a:p>
            <a:endParaRPr lang="en-US" altLang="zh-CN" dirty="0"/>
          </a:p>
          <a:p>
            <a:r>
              <a:rPr lang="zh-CN" altLang="en-US" dirty="0"/>
              <a:t>原理：同一个物体或者同一类物体出现在不同场景会提供该物体不同角度的特征信息，而这些丰富的信息可以帮助我们在复杂的环境中识别和分割该物体。</a:t>
            </a:r>
            <a:endParaRPr lang="en-US" altLang="zh-CN" dirty="0"/>
          </a:p>
          <a:p>
            <a:endParaRPr lang="zh-CN" altLang="en-US" dirty="0"/>
          </a:p>
        </p:txBody>
      </p:sp>
    </p:spTree>
    <p:extLst>
      <p:ext uri="{BB962C8B-B14F-4D97-AF65-F5344CB8AC3E}">
        <p14:creationId xmlns:p14="http://schemas.microsoft.com/office/powerpoint/2010/main" val="3480358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1FD6-1010-17A2-0B59-1B2D35032BA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53668FE-1A89-D7A9-DA76-5ABC3CEBC73A}"/>
              </a:ext>
            </a:extLst>
          </p:cNvPr>
          <p:cNvGrpSpPr/>
          <p:nvPr/>
        </p:nvGrpSpPr>
        <p:grpSpPr>
          <a:xfrm>
            <a:off x="0" y="0"/>
            <a:ext cx="2032000" cy="1219200"/>
            <a:chOff x="0" y="0"/>
            <a:chExt cx="4064000" cy="2438400"/>
          </a:xfrm>
        </p:grpSpPr>
        <p:sp>
          <p:nvSpPr>
            <p:cNvPr id="10" name="直角三角形 9">
              <a:extLst>
                <a:ext uri="{FF2B5EF4-FFF2-40B4-BE49-F238E27FC236}">
                  <a16:creationId xmlns:a16="http://schemas.microsoft.com/office/drawing/2014/main" id="{97AA2CC0-1263-62C3-C828-74B39378C882}"/>
                </a:ext>
              </a:extLst>
            </p:cNvPr>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a:extLst>
                <a:ext uri="{FF2B5EF4-FFF2-40B4-BE49-F238E27FC236}">
                  <a16:creationId xmlns:a16="http://schemas.microsoft.com/office/drawing/2014/main" id="{5DCA2EAA-C58E-EB0C-CD63-83C31CBA06D1}"/>
                </a:ext>
              </a:extLst>
            </p:cNvPr>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a:extLst>
              <a:ext uri="{FF2B5EF4-FFF2-40B4-BE49-F238E27FC236}">
                <a16:creationId xmlns:a16="http://schemas.microsoft.com/office/drawing/2014/main" id="{90CE3B30-59C7-13E2-5F45-ACB61AC442FF}"/>
              </a:ext>
            </a:extLst>
          </p:cNvPr>
          <p:cNvSpPr txBox="1"/>
          <p:nvPr/>
        </p:nvSpPr>
        <p:spPr>
          <a:xfrm>
            <a:off x="1905001" y="448256"/>
            <a:ext cx="2646878"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cs typeface="+mn-ea"/>
                <a:sym typeface="+mn-lt"/>
              </a:rPr>
              <a:t>原理与数据集</a:t>
            </a:r>
            <a:endParaRPr lang="en-US" altLang="zh-CN" sz="3200" dirty="0">
              <a:solidFill>
                <a:schemeClr val="accent1"/>
              </a:solidFill>
              <a:cs typeface="+mn-ea"/>
              <a:sym typeface="+mn-lt"/>
            </a:endParaRPr>
          </a:p>
        </p:txBody>
      </p:sp>
      <p:sp>
        <p:nvSpPr>
          <p:cNvPr id="28" name="文本框 27">
            <a:extLst>
              <a:ext uri="{FF2B5EF4-FFF2-40B4-BE49-F238E27FC236}">
                <a16:creationId xmlns:a16="http://schemas.microsoft.com/office/drawing/2014/main" id="{E3CEA9B0-FF3D-D13D-5445-7AE8F70C4C32}"/>
              </a:ext>
            </a:extLst>
          </p:cNvPr>
          <p:cNvSpPr txBox="1"/>
          <p:nvPr/>
        </p:nvSpPr>
        <p:spPr>
          <a:xfrm>
            <a:off x="1905001" y="1104900"/>
            <a:ext cx="8208817" cy="1477328"/>
          </a:xfrm>
          <a:prstGeom prst="rect">
            <a:avLst/>
          </a:prstGeom>
          <a:noFill/>
        </p:spPr>
        <p:txBody>
          <a:bodyPr wrap="square" rtlCol="0">
            <a:spAutoFit/>
          </a:bodyPr>
          <a:lstStyle/>
          <a:p>
            <a:r>
              <a:rPr lang="zh-CN" altLang="en-US" dirty="0"/>
              <a:t>网络：双边分支网络</a:t>
            </a:r>
            <a:r>
              <a:rPr lang="en-US" altLang="zh-CN" dirty="0"/>
              <a:t>BBN</a:t>
            </a:r>
            <a:r>
              <a:rPr lang="zh-CN" altLang="en-US" dirty="0"/>
              <a:t>，它分别探索单个图像内和组内图像之间的细微伪装线索，然后将它们聚集在一起，以便在给定图像中准确地检测伪装目标。</a:t>
            </a:r>
            <a:endParaRPr lang="en-US" altLang="zh-CN" dirty="0"/>
          </a:p>
          <a:p>
            <a:endParaRPr lang="en-US" altLang="zh-CN" dirty="0"/>
          </a:p>
          <a:p>
            <a:endParaRPr lang="en-US" altLang="zh-CN" dirty="0"/>
          </a:p>
          <a:p>
            <a:endParaRPr lang="zh-CN" altLang="en-US" dirty="0"/>
          </a:p>
        </p:txBody>
      </p:sp>
      <p:pic>
        <p:nvPicPr>
          <p:cNvPr id="4" name="图片 3">
            <a:extLst>
              <a:ext uri="{FF2B5EF4-FFF2-40B4-BE49-F238E27FC236}">
                <a16:creationId xmlns:a16="http://schemas.microsoft.com/office/drawing/2014/main" id="{A19418D6-B404-0FBB-2138-4FAEA5811A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6787" y="1843564"/>
            <a:ext cx="6855795" cy="4254266"/>
          </a:xfrm>
          <a:prstGeom prst="rect">
            <a:avLst/>
          </a:prstGeom>
        </p:spPr>
      </p:pic>
      <p:sp>
        <p:nvSpPr>
          <p:cNvPr id="6" name="文本框 5">
            <a:extLst>
              <a:ext uri="{FF2B5EF4-FFF2-40B4-BE49-F238E27FC236}">
                <a16:creationId xmlns:a16="http://schemas.microsoft.com/office/drawing/2014/main" id="{96031D84-269D-BC51-D879-6AC4F26B0878}"/>
              </a:ext>
            </a:extLst>
          </p:cNvPr>
          <p:cNvSpPr txBox="1"/>
          <p:nvPr/>
        </p:nvSpPr>
        <p:spPr>
          <a:xfrm>
            <a:off x="681183" y="2330670"/>
            <a:ext cx="3537527" cy="3139321"/>
          </a:xfrm>
          <a:prstGeom prst="rect">
            <a:avLst/>
          </a:prstGeom>
          <a:noFill/>
        </p:spPr>
        <p:txBody>
          <a:bodyPr wrap="square" rtlCol="0">
            <a:spAutoFit/>
          </a:bodyPr>
          <a:lstStyle/>
          <a:p>
            <a:r>
              <a:rPr lang="zh-CN" altLang="en-US" dirty="0"/>
              <a:t>架构：</a:t>
            </a:r>
            <a:r>
              <a:rPr lang="en-US" altLang="zh-CN" dirty="0"/>
              <a:t>Backbone + OFS + CFE + LGR </a:t>
            </a:r>
          </a:p>
          <a:p>
            <a:endParaRPr lang="en-US" altLang="zh-CN" dirty="0"/>
          </a:p>
          <a:p>
            <a:endParaRPr lang="en-US" altLang="zh-CN" dirty="0"/>
          </a:p>
          <a:p>
            <a:r>
              <a:rPr lang="zh-CN" altLang="en-US" dirty="0"/>
              <a:t>数据集：通过重新标记和重新组合现有的四个</a:t>
            </a:r>
            <a:r>
              <a:rPr lang="en-US" altLang="zh-CN" dirty="0"/>
              <a:t>COD</a:t>
            </a:r>
            <a:r>
              <a:rPr lang="zh-CN" altLang="en-US" dirty="0"/>
              <a:t>数据集，即</a:t>
            </a:r>
            <a:r>
              <a:rPr lang="en-US" altLang="zh-CN" dirty="0"/>
              <a:t>CHAMELEON, CAMO, COD10K,  NC4K</a:t>
            </a:r>
            <a:r>
              <a:rPr lang="zh-CN" altLang="en-US" dirty="0"/>
              <a:t>，构建了第一个大规模的</a:t>
            </a:r>
            <a:r>
              <a:rPr lang="en-US" altLang="zh-CN" dirty="0"/>
              <a:t>CoCOD8K</a:t>
            </a:r>
            <a:r>
              <a:rPr lang="zh-CN" altLang="en-US" dirty="0"/>
              <a:t>数据集。整体分成</a:t>
            </a:r>
            <a:r>
              <a:rPr lang="en-US" altLang="zh-CN" dirty="0"/>
              <a:t>5</a:t>
            </a:r>
            <a:r>
              <a:rPr lang="zh-CN" altLang="en-US" dirty="0"/>
              <a:t>个超类（</a:t>
            </a:r>
            <a:r>
              <a:rPr lang="en-US" altLang="zh-CN" dirty="0"/>
              <a:t>Land, Sea, Fly, Amphibians,  Insects</a:t>
            </a:r>
            <a:r>
              <a:rPr lang="zh-CN" altLang="en-US" dirty="0"/>
              <a:t>），</a:t>
            </a:r>
            <a:r>
              <a:rPr lang="en-US" altLang="zh-CN" dirty="0"/>
              <a:t>70</a:t>
            </a:r>
            <a:r>
              <a:rPr lang="zh-CN" altLang="en-US" dirty="0"/>
              <a:t>个子类。</a:t>
            </a:r>
          </a:p>
          <a:p>
            <a:endParaRPr lang="zh-CN" altLang="en-US" dirty="0"/>
          </a:p>
        </p:txBody>
      </p:sp>
    </p:spTree>
    <p:extLst>
      <p:ext uri="{BB962C8B-B14F-4D97-AF65-F5344CB8AC3E}">
        <p14:creationId xmlns:p14="http://schemas.microsoft.com/office/powerpoint/2010/main" val="3445326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5411F-C53F-325A-C742-5A24051C0964}"/>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B96AE952-E4D1-4F57-372D-F8D77B7CAB0C}"/>
              </a:ext>
            </a:extLst>
          </p:cNvPr>
          <p:cNvGrpSpPr/>
          <p:nvPr/>
        </p:nvGrpSpPr>
        <p:grpSpPr>
          <a:xfrm>
            <a:off x="0" y="0"/>
            <a:ext cx="2032000" cy="1219200"/>
            <a:chOff x="0" y="0"/>
            <a:chExt cx="4064000" cy="2438400"/>
          </a:xfrm>
        </p:grpSpPr>
        <p:sp>
          <p:nvSpPr>
            <p:cNvPr id="10" name="直角三角形 9">
              <a:extLst>
                <a:ext uri="{FF2B5EF4-FFF2-40B4-BE49-F238E27FC236}">
                  <a16:creationId xmlns:a16="http://schemas.microsoft.com/office/drawing/2014/main" id="{DCC69779-AEC2-30E1-9B88-93A6319ECCE4}"/>
                </a:ext>
              </a:extLst>
            </p:cNvPr>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a:extLst>
                <a:ext uri="{FF2B5EF4-FFF2-40B4-BE49-F238E27FC236}">
                  <a16:creationId xmlns:a16="http://schemas.microsoft.com/office/drawing/2014/main" id="{A4B9EEBA-F0CC-B61F-816B-4AA47DC0FE2C}"/>
                </a:ext>
              </a:extLst>
            </p:cNvPr>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a:extLst>
              <a:ext uri="{FF2B5EF4-FFF2-40B4-BE49-F238E27FC236}">
                <a16:creationId xmlns:a16="http://schemas.microsoft.com/office/drawing/2014/main" id="{C64E1EE5-07A0-6799-56B0-0D2A62663B84}"/>
              </a:ext>
            </a:extLst>
          </p:cNvPr>
          <p:cNvSpPr txBox="1"/>
          <p:nvPr/>
        </p:nvSpPr>
        <p:spPr>
          <a:xfrm>
            <a:off x="1905001" y="448256"/>
            <a:ext cx="2646878"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cs typeface="+mn-ea"/>
                <a:sym typeface="+mn-lt"/>
              </a:rPr>
              <a:t>原理与数据集</a:t>
            </a:r>
            <a:endParaRPr lang="en-US" altLang="zh-CN" sz="3200" dirty="0">
              <a:solidFill>
                <a:schemeClr val="accent1"/>
              </a:solidFill>
              <a:cs typeface="+mn-ea"/>
              <a:sym typeface="+mn-lt"/>
            </a:endParaRPr>
          </a:p>
        </p:txBody>
      </p:sp>
      <p:pic>
        <p:nvPicPr>
          <p:cNvPr id="4" name="图片 3">
            <a:extLst>
              <a:ext uri="{FF2B5EF4-FFF2-40B4-BE49-F238E27FC236}">
                <a16:creationId xmlns:a16="http://schemas.microsoft.com/office/drawing/2014/main" id="{8D2F9F83-A2FE-B5DD-CDD7-7C507A478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6473" y="1033031"/>
            <a:ext cx="6567973" cy="4075662"/>
          </a:xfrm>
          <a:prstGeom prst="rect">
            <a:avLst/>
          </a:prstGeom>
        </p:spPr>
      </p:pic>
      <p:sp>
        <p:nvSpPr>
          <p:cNvPr id="6" name="文本框 5">
            <a:extLst>
              <a:ext uri="{FF2B5EF4-FFF2-40B4-BE49-F238E27FC236}">
                <a16:creationId xmlns:a16="http://schemas.microsoft.com/office/drawing/2014/main" id="{09553F3D-6198-FE90-74B0-C1E8E86A3516}"/>
              </a:ext>
            </a:extLst>
          </p:cNvPr>
          <p:cNvSpPr txBox="1"/>
          <p:nvPr/>
        </p:nvSpPr>
        <p:spPr>
          <a:xfrm>
            <a:off x="6956917" y="448256"/>
            <a:ext cx="3537527" cy="646331"/>
          </a:xfrm>
          <a:prstGeom prst="rect">
            <a:avLst/>
          </a:prstGeom>
          <a:noFill/>
        </p:spPr>
        <p:txBody>
          <a:bodyPr wrap="square" rtlCol="0">
            <a:spAutoFit/>
          </a:bodyPr>
          <a:lstStyle/>
          <a:p>
            <a:r>
              <a:rPr lang="zh-CN" altLang="en-US" dirty="0"/>
              <a:t>架构：</a:t>
            </a:r>
            <a:r>
              <a:rPr lang="en-US" altLang="zh-CN" dirty="0"/>
              <a:t>Backbone + OFS + CFE + LGR </a:t>
            </a:r>
          </a:p>
          <a:p>
            <a:endParaRPr lang="zh-CN" altLang="en-US" dirty="0"/>
          </a:p>
        </p:txBody>
      </p:sp>
      <p:sp>
        <p:nvSpPr>
          <p:cNvPr id="3" name="文本框 2">
            <a:extLst>
              <a:ext uri="{FF2B5EF4-FFF2-40B4-BE49-F238E27FC236}">
                <a16:creationId xmlns:a16="http://schemas.microsoft.com/office/drawing/2014/main" id="{1D7A25A5-B271-0AF2-D094-B00A86FEEB46}"/>
              </a:ext>
            </a:extLst>
          </p:cNvPr>
          <p:cNvSpPr txBox="1"/>
          <p:nvPr/>
        </p:nvSpPr>
        <p:spPr>
          <a:xfrm>
            <a:off x="157018" y="1219201"/>
            <a:ext cx="5449455" cy="5632311"/>
          </a:xfrm>
          <a:prstGeom prst="rect">
            <a:avLst/>
          </a:prstGeom>
          <a:noFill/>
        </p:spPr>
        <p:txBody>
          <a:bodyPr wrap="square" rtlCol="0">
            <a:spAutoFit/>
          </a:bodyPr>
          <a:lstStyle/>
          <a:p>
            <a:r>
              <a:rPr lang="en-US" altLang="zh-CN" dirty="0"/>
              <a:t>CFE</a:t>
            </a:r>
            <a:r>
              <a:rPr lang="zh-CN" altLang="en-US" dirty="0"/>
              <a:t>：从一组图像中定位协同伪装的目标。获取一致的语义信息，其中先打乱像素位置来降低物体与背景的关联性，之后放缩图片大小来模仿人类视觉观察机制，获取多个角度的特征信息。</a:t>
            </a:r>
          </a:p>
          <a:p>
            <a:endParaRPr lang="zh-CN" altLang="en-US" dirty="0"/>
          </a:p>
          <a:p>
            <a:r>
              <a:rPr lang="en-US" altLang="zh-CN" dirty="0"/>
              <a:t>OFS</a:t>
            </a:r>
            <a:r>
              <a:rPr lang="zh-CN" altLang="en-US" dirty="0"/>
              <a:t>：用于捕获一张图像内的伪装线索。其中使用卷积增强特征，使用</a:t>
            </a:r>
            <a:r>
              <a:rPr lang="en-US" altLang="zh-CN" dirty="0" err="1"/>
              <a:t>MaxPooling</a:t>
            </a:r>
            <a:r>
              <a:rPr lang="zh-CN" altLang="en-US" dirty="0"/>
              <a:t>来突出伪装对象区域，使用</a:t>
            </a:r>
            <a:r>
              <a:rPr lang="en-US" altLang="zh-CN" dirty="0" err="1"/>
              <a:t>AvgPooling</a:t>
            </a:r>
            <a:r>
              <a:rPr lang="zh-CN" altLang="en-US" dirty="0"/>
              <a:t>来抑制背景干扰，以自主学习参数</a:t>
            </a:r>
            <a:r>
              <a:rPr lang="en-US" altLang="zh-CN" dirty="0"/>
              <a:t>γ</a:t>
            </a:r>
            <a:r>
              <a:rPr lang="zh-CN" altLang="en-US" dirty="0"/>
              <a:t>为权值，自适应地调整学习到的伪装特征，避免遗漏或误检。</a:t>
            </a:r>
          </a:p>
          <a:p>
            <a:endParaRPr lang="zh-CN" altLang="en-US" dirty="0"/>
          </a:p>
          <a:p>
            <a:r>
              <a:rPr lang="en-US" altLang="zh-CN" dirty="0"/>
              <a:t>LGR</a:t>
            </a:r>
            <a:r>
              <a:rPr lang="zh-CN" altLang="en-US" dirty="0"/>
              <a:t>：提供更准确的目标区域和边界预测。将</a:t>
            </a:r>
            <a:r>
              <a:rPr lang="en-US" altLang="zh-CN" dirty="0"/>
              <a:t>OFS</a:t>
            </a:r>
            <a:r>
              <a:rPr lang="zh-CN" altLang="en-US" dirty="0"/>
              <a:t>和</a:t>
            </a:r>
            <a:r>
              <a:rPr lang="en-US" altLang="zh-CN" dirty="0"/>
              <a:t>CFE</a:t>
            </a:r>
            <a:r>
              <a:rPr lang="zh-CN" altLang="en-US" dirty="0"/>
              <a:t>输出做完按位乘法得到的结果作为</a:t>
            </a:r>
            <a:r>
              <a:rPr lang="en-US" altLang="zh-CN" dirty="0"/>
              <a:t>LGR</a:t>
            </a:r>
            <a:r>
              <a:rPr lang="zh-CN" altLang="en-US" dirty="0"/>
              <a:t>的输入，将图像整个像素分成几个像素块，使用</a:t>
            </a:r>
            <a:r>
              <a:rPr lang="en-US" altLang="zh-CN" dirty="0"/>
              <a:t>SGD</a:t>
            </a:r>
            <a:r>
              <a:rPr lang="zh-CN" altLang="en-US" dirty="0"/>
              <a:t>激活函数计算每个像素块是伪装物体的概率，最后取概率最大的像素块（精准定位）作为卷积输入，计算出的卷积结果作为权重，再将该权重与源输入做合并作为解码器的输入，为了产生最终的目标掩码预测，使用两个简单的解码器来整合精化的协同伪装特征</a:t>
            </a:r>
            <a:r>
              <a:rPr lang="en-US" altLang="zh-CN" dirty="0" err="1"/>
              <a:t>flgr</a:t>
            </a:r>
            <a:r>
              <a:rPr lang="zh-CN" altLang="en-US" dirty="0"/>
              <a:t>与主干特征</a:t>
            </a:r>
            <a:r>
              <a:rPr lang="en-US" altLang="zh-CN" dirty="0"/>
              <a:t>f4</a:t>
            </a:r>
            <a:r>
              <a:rPr lang="zh-CN" altLang="en-US" dirty="0"/>
              <a:t>和</a:t>
            </a:r>
            <a:r>
              <a:rPr lang="en-US" altLang="zh-CN" dirty="0"/>
              <a:t>f3</a:t>
            </a:r>
            <a:r>
              <a:rPr lang="zh-CN" altLang="en-US" dirty="0"/>
              <a:t>。</a:t>
            </a:r>
          </a:p>
        </p:txBody>
      </p:sp>
      <p:sp>
        <p:nvSpPr>
          <p:cNvPr id="7" name="文本框 6">
            <a:extLst>
              <a:ext uri="{FF2B5EF4-FFF2-40B4-BE49-F238E27FC236}">
                <a16:creationId xmlns:a16="http://schemas.microsoft.com/office/drawing/2014/main" id="{243741B2-D754-B73A-D9EB-A9EDE6040C34}"/>
              </a:ext>
            </a:extLst>
          </p:cNvPr>
          <p:cNvSpPr txBox="1"/>
          <p:nvPr/>
        </p:nvSpPr>
        <p:spPr>
          <a:xfrm>
            <a:off x="5950153" y="5843441"/>
            <a:ext cx="4544291" cy="369332"/>
          </a:xfrm>
          <a:prstGeom prst="rect">
            <a:avLst/>
          </a:prstGeom>
          <a:noFill/>
        </p:spPr>
        <p:txBody>
          <a:bodyPr wrap="square" rtlCol="0">
            <a:spAutoFit/>
          </a:bodyPr>
          <a:lstStyle/>
          <a:p>
            <a:r>
              <a:rPr lang="zh-CN" altLang="en-US" dirty="0"/>
              <a:t>损失函数：交叉熵和交并比</a:t>
            </a:r>
          </a:p>
        </p:txBody>
      </p:sp>
    </p:spTree>
    <p:extLst>
      <p:ext uri="{BB962C8B-B14F-4D97-AF65-F5344CB8AC3E}">
        <p14:creationId xmlns:p14="http://schemas.microsoft.com/office/powerpoint/2010/main" val="1137661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3" name="组合 52"/>
          <p:cNvGrpSpPr/>
          <p:nvPr/>
        </p:nvGrpSpPr>
        <p:grpSpPr>
          <a:xfrm>
            <a:off x="5309118" y="1466820"/>
            <a:ext cx="1573764" cy="2173745"/>
            <a:chOff x="5309118" y="628546"/>
            <a:chExt cx="1573764" cy="2173745"/>
          </a:xfrm>
        </p:grpSpPr>
        <p:sp>
          <p:nvSpPr>
            <p:cNvPr id="54" name="文本框 53"/>
            <p:cNvSpPr txBox="1"/>
            <p:nvPr/>
          </p:nvSpPr>
          <p:spPr>
            <a:xfrm>
              <a:off x="5309118" y="1882039"/>
              <a:ext cx="1573764"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5200" dirty="0">
                  <a:solidFill>
                    <a:schemeClr val="accent1"/>
                  </a:solidFill>
                  <a:latin typeface="+mn-lt"/>
                  <a:ea typeface="+mn-ea"/>
                  <a:cs typeface="+mn-ea"/>
                  <a:sym typeface="+mn-lt"/>
                </a:rPr>
                <a:t>分析</a:t>
              </a:r>
              <a:endParaRPr lang="en-US" altLang="zh-CN" sz="5200" dirty="0">
                <a:solidFill>
                  <a:schemeClr val="accent1"/>
                </a:solidFill>
                <a:latin typeface="+mn-lt"/>
                <a:ea typeface="+mn-ea"/>
                <a:cs typeface="+mn-ea"/>
                <a:sym typeface="+mn-lt"/>
              </a:endParaRPr>
            </a:p>
          </p:txBody>
        </p:sp>
        <p:sp>
          <p:nvSpPr>
            <p:cNvPr id="56" name="文本框 55"/>
            <p:cNvSpPr txBox="1"/>
            <p:nvPr/>
          </p:nvSpPr>
          <p:spPr>
            <a:xfrm>
              <a:off x="5584193" y="628546"/>
              <a:ext cx="1025537"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en-US" altLang="zh-CN" sz="5200">
                  <a:solidFill>
                    <a:schemeClr val="accent2"/>
                  </a:solidFill>
                  <a:latin typeface="+mn-lt"/>
                  <a:ea typeface="+mn-ea"/>
                  <a:cs typeface="+mn-ea"/>
                  <a:sym typeface="+mn-lt"/>
                </a:rPr>
                <a:t>03</a:t>
              </a:r>
              <a:endParaRPr lang="zh-CN" altLang="en-US" sz="5200" dirty="0">
                <a:solidFill>
                  <a:schemeClr val="accent2"/>
                </a:solidFill>
                <a:latin typeface="+mn-lt"/>
                <a:ea typeface="+mn-ea"/>
                <a:cs typeface="+mn-ea"/>
                <a:sym typeface="+mn-lt"/>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97A74-3433-53AC-073F-CBE76476BA6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D7C7317-58B5-87E5-34F6-D7A70DEA8CB8}"/>
              </a:ext>
            </a:extLst>
          </p:cNvPr>
          <p:cNvGrpSpPr/>
          <p:nvPr/>
        </p:nvGrpSpPr>
        <p:grpSpPr>
          <a:xfrm>
            <a:off x="0" y="0"/>
            <a:ext cx="2032000" cy="1219200"/>
            <a:chOff x="0" y="0"/>
            <a:chExt cx="4064000" cy="2438400"/>
          </a:xfrm>
        </p:grpSpPr>
        <p:sp>
          <p:nvSpPr>
            <p:cNvPr id="10" name="直角三角形 9">
              <a:extLst>
                <a:ext uri="{FF2B5EF4-FFF2-40B4-BE49-F238E27FC236}">
                  <a16:creationId xmlns:a16="http://schemas.microsoft.com/office/drawing/2014/main" id="{8B7CC4E8-5600-270B-CD12-084D4297EF2B}"/>
                </a:ext>
              </a:extLst>
            </p:cNvPr>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a:extLst>
                <a:ext uri="{FF2B5EF4-FFF2-40B4-BE49-F238E27FC236}">
                  <a16:creationId xmlns:a16="http://schemas.microsoft.com/office/drawing/2014/main" id="{DA8D03BF-B396-6F6D-8117-EE2E060356EA}"/>
                </a:ext>
              </a:extLst>
            </p:cNvPr>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a:extLst>
              <a:ext uri="{FF2B5EF4-FFF2-40B4-BE49-F238E27FC236}">
                <a16:creationId xmlns:a16="http://schemas.microsoft.com/office/drawing/2014/main" id="{0E971902-537E-036B-7CA4-4143027093BF}"/>
              </a:ext>
            </a:extLst>
          </p:cNvPr>
          <p:cNvSpPr txBox="1"/>
          <p:nvPr/>
        </p:nvSpPr>
        <p:spPr>
          <a:xfrm>
            <a:off x="1905001" y="448256"/>
            <a:ext cx="1005403"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latin typeface="+mn-lt"/>
                <a:ea typeface="+mn-ea"/>
                <a:cs typeface="+mn-ea"/>
                <a:sym typeface="+mn-lt"/>
              </a:rPr>
              <a:t>分析</a:t>
            </a:r>
            <a:endParaRPr lang="en-US" altLang="zh-CN" sz="3200" dirty="0">
              <a:solidFill>
                <a:schemeClr val="accent1"/>
              </a:solidFill>
              <a:latin typeface="+mn-lt"/>
              <a:ea typeface="+mn-ea"/>
              <a:cs typeface="+mn-ea"/>
              <a:sym typeface="+mn-lt"/>
            </a:endParaRPr>
          </a:p>
        </p:txBody>
      </p:sp>
      <p:sp>
        <p:nvSpPr>
          <p:cNvPr id="28" name="文本框 27">
            <a:extLst>
              <a:ext uri="{FF2B5EF4-FFF2-40B4-BE49-F238E27FC236}">
                <a16:creationId xmlns:a16="http://schemas.microsoft.com/office/drawing/2014/main" id="{0C0DB680-0951-09CC-4A1F-319E39615F30}"/>
              </a:ext>
            </a:extLst>
          </p:cNvPr>
          <p:cNvSpPr txBox="1"/>
          <p:nvPr/>
        </p:nvSpPr>
        <p:spPr>
          <a:xfrm>
            <a:off x="1905001" y="1431636"/>
            <a:ext cx="8208817" cy="2862322"/>
          </a:xfrm>
          <a:prstGeom prst="rect">
            <a:avLst/>
          </a:prstGeom>
          <a:noFill/>
        </p:spPr>
        <p:txBody>
          <a:bodyPr wrap="square" rtlCol="0">
            <a:spAutoFit/>
          </a:bodyPr>
          <a:lstStyle/>
          <a:p>
            <a:r>
              <a:rPr lang="zh-CN" altLang="en-US" dirty="0"/>
              <a:t>过度使用迭代观测可能会导致信息干扰或将某些背景区域错误地识别为共同伪装的目标，一般迭代</a:t>
            </a:r>
            <a:r>
              <a:rPr lang="en-US" altLang="zh-CN" dirty="0"/>
              <a:t>2~5</a:t>
            </a:r>
            <a:r>
              <a:rPr lang="zh-CN" altLang="en-US" dirty="0"/>
              <a:t>次就行了。</a:t>
            </a:r>
          </a:p>
          <a:p>
            <a:endParaRPr lang="zh-CN" altLang="en-US" dirty="0"/>
          </a:p>
          <a:p>
            <a:r>
              <a:rPr lang="zh-CN" altLang="en-US" dirty="0"/>
              <a:t>在</a:t>
            </a:r>
            <a:r>
              <a:rPr lang="en-US" altLang="zh-CN" dirty="0"/>
              <a:t>backbone</a:t>
            </a:r>
            <a:r>
              <a:rPr lang="zh-CN" altLang="en-US" dirty="0"/>
              <a:t>的选择上，在</a:t>
            </a:r>
            <a:r>
              <a:rPr lang="en-US" altLang="zh-CN" dirty="0"/>
              <a:t>BBN</a:t>
            </a:r>
            <a:r>
              <a:rPr lang="zh-CN" altLang="en-US" dirty="0"/>
              <a:t>的架构上，基于</a:t>
            </a:r>
            <a:r>
              <a:rPr lang="en-US" altLang="zh-CN" dirty="0"/>
              <a:t>Res2Net</a:t>
            </a:r>
            <a:r>
              <a:rPr lang="zh-CN" altLang="en-US" dirty="0"/>
              <a:t>的版本显示出优于基于</a:t>
            </a:r>
            <a:r>
              <a:rPr lang="en-US" altLang="zh-CN" dirty="0"/>
              <a:t>VGG-16</a:t>
            </a:r>
            <a:r>
              <a:rPr lang="zh-CN" altLang="en-US" dirty="0"/>
              <a:t>和</a:t>
            </a:r>
            <a:r>
              <a:rPr lang="en-US" altLang="zh-CN" dirty="0"/>
              <a:t>ResNet-50</a:t>
            </a:r>
            <a:r>
              <a:rPr lang="zh-CN" altLang="en-US" dirty="0"/>
              <a:t>主干的版本性能。</a:t>
            </a:r>
          </a:p>
          <a:p>
            <a:endParaRPr lang="zh-CN" altLang="en-US" dirty="0"/>
          </a:p>
          <a:p>
            <a:r>
              <a:rPr lang="zh-CN" altLang="en-US" dirty="0"/>
              <a:t>当背景元素的数量远远大于前景元素的数量时，背景元素中的损失函数分量将占主导地位，容易使模型偏向背景。</a:t>
            </a:r>
          </a:p>
          <a:p>
            <a:endParaRPr lang="zh-CN" altLang="en-US" dirty="0"/>
          </a:p>
          <a:p>
            <a:r>
              <a:rPr lang="zh-CN" altLang="en-US" dirty="0"/>
              <a:t>引入交并比（</a:t>
            </a:r>
            <a:r>
              <a:rPr lang="en-US" altLang="zh-CN" dirty="0" err="1"/>
              <a:t>loU</a:t>
            </a:r>
            <a:r>
              <a:rPr lang="zh-CN" altLang="en-US" dirty="0"/>
              <a:t>）损失函数，有利于模型的收敛，检测性能略有提高。</a:t>
            </a:r>
          </a:p>
        </p:txBody>
      </p:sp>
    </p:spTree>
    <p:extLst>
      <p:ext uri="{BB962C8B-B14F-4D97-AF65-F5344CB8AC3E}">
        <p14:creationId xmlns:p14="http://schemas.microsoft.com/office/powerpoint/2010/main" val="3207276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3" name="组合 52"/>
          <p:cNvGrpSpPr/>
          <p:nvPr/>
        </p:nvGrpSpPr>
        <p:grpSpPr>
          <a:xfrm>
            <a:off x="4642268" y="1466820"/>
            <a:ext cx="2907463" cy="2220811"/>
            <a:chOff x="4642268" y="628546"/>
            <a:chExt cx="2907463" cy="2220811"/>
          </a:xfrm>
        </p:grpSpPr>
        <p:sp>
          <p:nvSpPr>
            <p:cNvPr id="54" name="文本框 53"/>
            <p:cNvSpPr txBox="1"/>
            <p:nvPr/>
          </p:nvSpPr>
          <p:spPr>
            <a:xfrm>
              <a:off x="4642268" y="1929105"/>
              <a:ext cx="2907463"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5200" dirty="0">
                  <a:solidFill>
                    <a:schemeClr val="accent1"/>
                  </a:solidFill>
                  <a:latin typeface="+mn-lt"/>
                  <a:ea typeface="+mn-ea"/>
                  <a:cs typeface="+mn-ea"/>
                  <a:sym typeface="+mn-lt"/>
                </a:rPr>
                <a:t>改进策略</a:t>
              </a:r>
              <a:endParaRPr lang="en-US" altLang="zh-CN" sz="5200" dirty="0">
                <a:solidFill>
                  <a:schemeClr val="accent1"/>
                </a:solidFill>
                <a:latin typeface="+mn-lt"/>
                <a:ea typeface="+mn-ea"/>
                <a:cs typeface="+mn-ea"/>
                <a:sym typeface="+mn-lt"/>
              </a:endParaRPr>
            </a:p>
          </p:txBody>
        </p:sp>
        <p:sp>
          <p:nvSpPr>
            <p:cNvPr id="56" name="文本框 55"/>
            <p:cNvSpPr txBox="1"/>
            <p:nvPr/>
          </p:nvSpPr>
          <p:spPr>
            <a:xfrm>
              <a:off x="5584193" y="628546"/>
              <a:ext cx="1025537" cy="920252"/>
            </a:xfrm>
            <a:prstGeom prst="rect">
              <a:avLst/>
            </a:prstGeom>
            <a:noFill/>
            <a:effectLst/>
          </p:spPr>
          <p:txBody>
            <a:bodyPr wrap="none" lIns="118872" tIns="59436" rIns="118872" bIns="59436"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en-US" altLang="zh-CN" sz="5200">
                  <a:solidFill>
                    <a:schemeClr val="accent2"/>
                  </a:solidFill>
                  <a:latin typeface="+mn-lt"/>
                  <a:ea typeface="+mn-ea"/>
                  <a:cs typeface="+mn-ea"/>
                  <a:sym typeface="+mn-lt"/>
                </a:rPr>
                <a:t>04</a:t>
              </a:r>
              <a:endParaRPr lang="zh-CN" altLang="en-US" sz="5200" dirty="0">
                <a:solidFill>
                  <a:schemeClr val="accent2"/>
                </a:solidFill>
                <a:latin typeface="+mn-lt"/>
                <a:ea typeface="+mn-ea"/>
                <a:cs typeface="+mn-ea"/>
                <a:sym typeface="+mn-lt"/>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46CC6-CFA7-23A6-5E3A-4C656F88474C}"/>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AC47AA6-A458-BDEF-1777-E0F5FC1B2396}"/>
              </a:ext>
            </a:extLst>
          </p:cNvPr>
          <p:cNvGrpSpPr/>
          <p:nvPr/>
        </p:nvGrpSpPr>
        <p:grpSpPr>
          <a:xfrm>
            <a:off x="0" y="0"/>
            <a:ext cx="2032000" cy="1219200"/>
            <a:chOff x="0" y="0"/>
            <a:chExt cx="4064000" cy="2438400"/>
          </a:xfrm>
        </p:grpSpPr>
        <p:sp>
          <p:nvSpPr>
            <p:cNvPr id="10" name="直角三角形 9">
              <a:extLst>
                <a:ext uri="{FF2B5EF4-FFF2-40B4-BE49-F238E27FC236}">
                  <a16:creationId xmlns:a16="http://schemas.microsoft.com/office/drawing/2014/main" id="{15D45BB3-400F-3C8D-E05A-4DF9E572419F}"/>
                </a:ext>
              </a:extLst>
            </p:cNvPr>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a:extLst>
                <a:ext uri="{FF2B5EF4-FFF2-40B4-BE49-F238E27FC236}">
                  <a16:creationId xmlns:a16="http://schemas.microsoft.com/office/drawing/2014/main" id="{E5CBF907-8B8A-F02C-9CEF-F93A13E38048}"/>
                </a:ext>
              </a:extLst>
            </p:cNvPr>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1" name="文本框 10">
            <a:extLst>
              <a:ext uri="{FF2B5EF4-FFF2-40B4-BE49-F238E27FC236}">
                <a16:creationId xmlns:a16="http://schemas.microsoft.com/office/drawing/2014/main" id="{E43CCCF0-C9A1-D5B6-AE0C-E18ABF8BC6EF}"/>
              </a:ext>
            </a:extLst>
          </p:cNvPr>
          <p:cNvSpPr txBox="1"/>
          <p:nvPr/>
        </p:nvSpPr>
        <p:spPr>
          <a:xfrm>
            <a:off x="1905001" y="399189"/>
            <a:ext cx="1826141" cy="584775"/>
          </a:xfrm>
          <a:prstGeom prst="rect">
            <a:avLst/>
          </a:prstGeom>
          <a:noFill/>
        </p:spPr>
        <p:txBody>
          <a:bodyPr wrap="none" rtlCol="0">
            <a:spAutoFit/>
          </a:bodyPr>
          <a:lstStyle>
            <a:defPPr>
              <a:defRPr lang="zh-CN"/>
            </a:defPPr>
            <a:lvl1pPr>
              <a:defRPr sz="4000">
                <a:solidFill>
                  <a:srgbClr val="42546E"/>
                </a:solidFill>
                <a:latin typeface="汉仪瑞意宋简" panose="00020600040101010101" pitchFamily="18" charset="-122"/>
                <a:ea typeface="汉仪瑞意宋简" panose="00020600040101010101" pitchFamily="18" charset="-122"/>
              </a:defRPr>
            </a:lvl1pPr>
          </a:lstStyle>
          <a:p>
            <a:r>
              <a:rPr lang="zh-CN" altLang="en-US" sz="3200" dirty="0">
                <a:solidFill>
                  <a:schemeClr val="accent1"/>
                </a:solidFill>
                <a:latin typeface="+mn-lt"/>
                <a:ea typeface="+mn-ea"/>
                <a:cs typeface="+mn-ea"/>
                <a:sym typeface="+mn-lt"/>
              </a:rPr>
              <a:t>改进策略</a:t>
            </a:r>
            <a:endParaRPr lang="en-US" altLang="zh-CN" sz="3200" dirty="0">
              <a:solidFill>
                <a:schemeClr val="accent1"/>
              </a:solidFill>
              <a:latin typeface="+mn-lt"/>
              <a:ea typeface="+mn-ea"/>
              <a:cs typeface="+mn-ea"/>
              <a:sym typeface="+mn-lt"/>
            </a:endParaRPr>
          </a:p>
        </p:txBody>
      </p:sp>
      <p:sp>
        <p:nvSpPr>
          <p:cNvPr id="28" name="文本框 27">
            <a:extLst>
              <a:ext uri="{FF2B5EF4-FFF2-40B4-BE49-F238E27FC236}">
                <a16:creationId xmlns:a16="http://schemas.microsoft.com/office/drawing/2014/main" id="{C8006840-D516-4D1B-9CB7-9AFB48962577}"/>
              </a:ext>
            </a:extLst>
          </p:cNvPr>
          <p:cNvSpPr txBox="1"/>
          <p:nvPr/>
        </p:nvSpPr>
        <p:spPr>
          <a:xfrm>
            <a:off x="1905001" y="1431636"/>
            <a:ext cx="8208817" cy="2585323"/>
          </a:xfrm>
          <a:prstGeom prst="rect">
            <a:avLst/>
          </a:prstGeom>
          <a:noFill/>
        </p:spPr>
        <p:txBody>
          <a:bodyPr wrap="square" rtlCol="0">
            <a:spAutoFit/>
          </a:bodyPr>
          <a:lstStyle/>
          <a:p>
            <a:r>
              <a:rPr lang="zh-CN" altLang="en-US" dirty="0"/>
              <a:t>使用轻量化的模型，以提高模型的效率，降低模型的复杂性和参数。</a:t>
            </a:r>
            <a:endParaRPr lang="en-US" altLang="zh-CN" dirty="0"/>
          </a:p>
          <a:p>
            <a:endParaRPr lang="en-US" altLang="zh-CN" dirty="0"/>
          </a:p>
          <a:p>
            <a:r>
              <a:rPr lang="zh-CN" altLang="en-US" dirty="0"/>
              <a:t>探索更好的</a:t>
            </a:r>
            <a:r>
              <a:rPr lang="en-US" altLang="zh-CN" dirty="0"/>
              <a:t>backbone</a:t>
            </a:r>
          </a:p>
          <a:p>
            <a:endParaRPr lang="en-US" altLang="zh-CN" dirty="0"/>
          </a:p>
          <a:p>
            <a:r>
              <a:rPr lang="zh-CN" altLang="en-US" dirty="0"/>
              <a:t>自动学习控制迭代次数，在防止将大量的背景区域错误地识别为共同伪装的目标</a:t>
            </a:r>
            <a:endParaRPr lang="en-US" altLang="zh-CN" dirty="0"/>
          </a:p>
          <a:p>
            <a:endParaRPr lang="en-US" altLang="zh-CN" dirty="0"/>
          </a:p>
          <a:p>
            <a:r>
              <a:rPr lang="zh-CN" altLang="en-US" dirty="0"/>
              <a:t>其实该网络的主要创新点是</a:t>
            </a:r>
            <a:r>
              <a:rPr lang="en-US" altLang="zh-CN" dirty="0"/>
              <a:t>CFE</a:t>
            </a:r>
            <a:r>
              <a:rPr lang="zh-CN" altLang="en-US" dirty="0"/>
              <a:t>和</a:t>
            </a:r>
            <a:r>
              <a:rPr lang="en-US" altLang="zh-CN" dirty="0"/>
              <a:t>LGR</a:t>
            </a:r>
            <a:r>
              <a:rPr lang="zh-CN" altLang="en-US" dirty="0"/>
              <a:t>模块的设计（分支</a:t>
            </a:r>
            <a:r>
              <a:rPr lang="en-US" altLang="zh-CN" dirty="0"/>
              <a:t>+</a:t>
            </a:r>
            <a:r>
              <a:rPr lang="zh-CN" altLang="en-US" dirty="0"/>
              <a:t>合并），对于</a:t>
            </a:r>
            <a:r>
              <a:rPr lang="en-US" altLang="zh-CN" dirty="0"/>
              <a:t>OFS</a:t>
            </a:r>
            <a:r>
              <a:rPr lang="zh-CN" altLang="en-US" dirty="0"/>
              <a:t>模块是对单张图片的特征提取，可以在</a:t>
            </a:r>
            <a:r>
              <a:rPr lang="en-US" altLang="zh-CN" dirty="0"/>
              <a:t>OFS</a:t>
            </a:r>
            <a:r>
              <a:rPr lang="zh-CN" altLang="en-US" dirty="0"/>
              <a:t>模块上做创新，提高对单张图片特征提取的精度。</a:t>
            </a:r>
          </a:p>
        </p:txBody>
      </p:sp>
    </p:spTree>
    <p:extLst>
      <p:ext uri="{BB962C8B-B14F-4D97-AF65-F5344CB8AC3E}">
        <p14:creationId xmlns:p14="http://schemas.microsoft.com/office/powerpoint/2010/main" val="3931875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直角三角形 7"/>
          <p:cNvSpPr/>
          <p:nvPr/>
        </p:nvSpPr>
        <p:spPr>
          <a:xfrm rot="10800000" flipV="1">
            <a:off x="8128000" y="441960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直角三角形 9"/>
          <p:cNvSpPr/>
          <p:nvPr/>
        </p:nvSpPr>
        <p:spPr>
          <a:xfrm rot="10800000" flipH="1">
            <a:off x="0" y="0"/>
            <a:ext cx="4064000" cy="243840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直角三角形 4"/>
          <p:cNvSpPr/>
          <p:nvPr/>
        </p:nvSpPr>
        <p:spPr>
          <a:xfrm flipV="1">
            <a:off x="1" y="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10800000" flipV="1">
            <a:off x="8382000" y="4648200"/>
            <a:ext cx="3810000" cy="2209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292058" y="641350"/>
            <a:ext cx="9677400" cy="5575300"/>
          </a:xfrm>
          <a:prstGeom prst="rect">
            <a:avLst/>
          </a:prstGeom>
          <a:solidFill>
            <a:schemeClr val="bg1"/>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6" name="组合 25"/>
          <p:cNvGrpSpPr/>
          <p:nvPr/>
        </p:nvGrpSpPr>
        <p:grpSpPr>
          <a:xfrm>
            <a:off x="2001162" y="1914023"/>
            <a:ext cx="8189678" cy="2828218"/>
            <a:chOff x="2001162" y="1714150"/>
            <a:chExt cx="8189678" cy="2828218"/>
          </a:xfrm>
        </p:grpSpPr>
        <p:sp>
          <p:nvSpPr>
            <p:cNvPr id="12" name="文本框 11"/>
            <p:cNvSpPr txBox="1"/>
            <p:nvPr/>
          </p:nvSpPr>
          <p:spPr>
            <a:xfrm>
              <a:off x="2001162" y="1714150"/>
              <a:ext cx="8189678" cy="923330"/>
            </a:xfrm>
            <a:prstGeom prst="rect">
              <a:avLst/>
            </a:prstGeom>
            <a:noFill/>
          </p:spPr>
          <p:txBody>
            <a:bodyPr wrap="none" rtlCol="0">
              <a:spAutoFit/>
            </a:bodyPr>
            <a:lstStyle/>
            <a:p>
              <a:pPr algn="ctr"/>
              <a:r>
                <a:rPr lang="en-US" altLang="zh-CN" sz="5400" b="1">
                  <a:solidFill>
                    <a:schemeClr val="accent1"/>
                  </a:solidFill>
                  <a:cs typeface="+mn-ea"/>
                  <a:sym typeface="+mn-lt"/>
                </a:rPr>
                <a:t>Thank you for watching</a:t>
              </a:r>
              <a:endParaRPr lang="zh-CN" altLang="en-US" sz="5400" b="1" dirty="0">
                <a:solidFill>
                  <a:schemeClr val="accent1"/>
                </a:solidFill>
                <a:cs typeface="+mn-ea"/>
                <a:sym typeface="+mn-lt"/>
              </a:endParaRPr>
            </a:p>
          </p:txBody>
        </p:sp>
        <p:grpSp>
          <p:nvGrpSpPr>
            <p:cNvPr id="15" name="组合 14"/>
            <p:cNvGrpSpPr/>
            <p:nvPr/>
          </p:nvGrpSpPr>
          <p:grpSpPr>
            <a:xfrm>
              <a:off x="3491132" y="4398434"/>
              <a:ext cx="3588949" cy="143934"/>
              <a:chOff x="3417873" y="4271434"/>
              <a:chExt cx="3588949" cy="143934"/>
            </a:xfrm>
          </p:grpSpPr>
          <p:sp>
            <p:nvSpPr>
              <p:cNvPr id="23" name="working-man-with-a-bow-and-a-hat_57080"/>
              <p:cNvSpPr>
                <a:spLocks noChangeAspect="1"/>
              </p:cNvSpPr>
              <p:nvPr/>
            </p:nvSpPr>
            <p:spPr bwMode="auto">
              <a:xfrm>
                <a:off x="3417873" y="4271434"/>
                <a:ext cx="123854" cy="143934"/>
              </a:xfrm>
              <a:custGeom>
                <a:avLst/>
                <a:gdLst>
                  <a:gd name="connsiteX0" fmla="*/ 176656 w 521831"/>
                  <a:gd name="connsiteY0" fmla="*/ 380983 h 606439"/>
                  <a:gd name="connsiteX1" fmla="*/ 186943 w 521831"/>
                  <a:gd name="connsiteY1" fmla="*/ 387521 h 606439"/>
                  <a:gd name="connsiteX2" fmla="*/ 260916 w 521831"/>
                  <a:gd name="connsiteY2" fmla="*/ 497073 h 606439"/>
                  <a:gd name="connsiteX3" fmla="*/ 334888 w 521831"/>
                  <a:gd name="connsiteY3" fmla="*/ 387521 h 606439"/>
                  <a:gd name="connsiteX4" fmla="*/ 345082 w 521831"/>
                  <a:gd name="connsiteY4" fmla="*/ 380983 h 606439"/>
                  <a:gd name="connsiteX5" fmla="*/ 350786 w 521831"/>
                  <a:gd name="connsiteY5" fmla="*/ 382571 h 606439"/>
                  <a:gd name="connsiteX6" fmla="*/ 416530 w 521831"/>
                  <a:gd name="connsiteY6" fmla="*/ 416286 h 606439"/>
                  <a:gd name="connsiteX7" fmla="*/ 521831 w 521831"/>
                  <a:gd name="connsiteY7" fmla="*/ 487267 h 606439"/>
                  <a:gd name="connsiteX8" fmla="*/ 521831 w 521831"/>
                  <a:gd name="connsiteY8" fmla="*/ 606439 h 606439"/>
                  <a:gd name="connsiteX9" fmla="*/ 260916 w 521831"/>
                  <a:gd name="connsiteY9" fmla="*/ 606439 h 606439"/>
                  <a:gd name="connsiteX10" fmla="*/ 0 w 521831"/>
                  <a:gd name="connsiteY10" fmla="*/ 606439 h 606439"/>
                  <a:gd name="connsiteX11" fmla="*/ 0 w 521831"/>
                  <a:gd name="connsiteY11" fmla="*/ 487267 h 606439"/>
                  <a:gd name="connsiteX12" fmla="*/ 105301 w 521831"/>
                  <a:gd name="connsiteY12" fmla="*/ 416286 h 606439"/>
                  <a:gd name="connsiteX13" fmla="*/ 170951 w 521831"/>
                  <a:gd name="connsiteY13" fmla="*/ 382571 h 606439"/>
                  <a:gd name="connsiteX14" fmla="*/ 176656 w 521831"/>
                  <a:gd name="connsiteY14" fmla="*/ 380983 h 606439"/>
                  <a:gd name="connsiteX15" fmla="*/ 218033 w 521831"/>
                  <a:gd name="connsiteY15" fmla="*/ 348240 h 606439"/>
                  <a:gd name="connsiteX16" fmla="*/ 220372 w 521831"/>
                  <a:gd name="connsiteY16" fmla="*/ 348427 h 606439"/>
                  <a:gd name="connsiteX17" fmla="*/ 221027 w 521831"/>
                  <a:gd name="connsiteY17" fmla="*/ 348520 h 606439"/>
                  <a:gd name="connsiteX18" fmla="*/ 221120 w 521831"/>
                  <a:gd name="connsiteY18" fmla="*/ 348613 h 606439"/>
                  <a:gd name="connsiteX19" fmla="*/ 222336 w 521831"/>
                  <a:gd name="connsiteY19" fmla="*/ 348893 h 606439"/>
                  <a:gd name="connsiteX20" fmla="*/ 222898 w 521831"/>
                  <a:gd name="connsiteY20" fmla="*/ 349080 h 606439"/>
                  <a:gd name="connsiteX21" fmla="*/ 223553 w 521831"/>
                  <a:gd name="connsiteY21" fmla="*/ 349266 h 606439"/>
                  <a:gd name="connsiteX22" fmla="*/ 227575 w 521831"/>
                  <a:gd name="connsiteY22" fmla="*/ 351693 h 606439"/>
                  <a:gd name="connsiteX23" fmla="*/ 247783 w 521831"/>
                  <a:gd name="connsiteY23" fmla="*/ 367836 h 606439"/>
                  <a:gd name="connsiteX24" fmla="*/ 250309 w 521831"/>
                  <a:gd name="connsiteY24" fmla="*/ 367929 h 606439"/>
                  <a:gd name="connsiteX25" fmla="*/ 260880 w 521831"/>
                  <a:gd name="connsiteY25" fmla="*/ 367836 h 606439"/>
                  <a:gd name="connsiteX26" fmla="*/ 271358 w 521831"/>
                  <a:gd name="connsiteY26" fmla="*/ 367929 h 606439"/>
                  <a:gd name="connsiteX27" fmla="*/ 273978 w 521831"/>
                  <a:gd name="connsiteY27" fmla="*/ 367836 h 606439"/>
                  <a:gd name="connsiteX28" fmla="*/ 294186 w 521831"/>
                  <a:gd name="connsiteY28" fmla="*/ 351693 h 606439"/>
                  <a:gd name="connsiteX29" fmla="*/ 298208 w 521831"/>
                  <a:gd name="connsiteY29" fmla="*/ 349266 h 606439"/>
                  <a:gd name="connsiteX30" fmla="*/ 298863 w 521831"/>
                  <a:gd name="connsiteY30" fmla="*/ 349080 h 606439"/>
                  <a:gd name="connsiteX31" fmla="*/ 299331 w 521831"/>
                  <a:gd name="connsiteY31" fmla="*/ 348893 h 606439"/>
                  <a:gd name="connsiteX32" fmla="*/ 300547 w 521831"/>
                  <a:gd name="connsiteY32" fmla="*/ 348613 h 606439"/>
                  <a:gd name="connsiteX33" fmla="*/ 300734 w 521831"/>
                  <a:gd name="connsiteY33" fmla="*/ 348520 h 606439"/>
                  <a:gd name="connsiteX34" fmla="*/ 301296 w 521831"/>
                  <a:gd name="connsiteY34" fmla="*/ 348427 h 606439"/>
                  <a:gd name="connsiteX35" fmla="*/ 303728 w 521831"/>
                  <a:gd name="connsiteY35" fmla="*/ 348240 h 606439"/>
                  <a:gd name="connsiteX36" fmla="*/ 318603 w 521831"/>
                  <a:gd name="connsiteY36" fmla="*/ 362330 h 606439"/>
                  <a:gd name="connsiteX37" fmla="*/ 318603 w 521831"/>
                  <a:gd name="connsiteY37" fmla="*/ 393404 h 606439"/>
                  <a:gd name="connsiteX38" fmla="*/ 303728 w 521831"/>
                  <a:gd name="connsiteY38" fmla="*/ 407868 h 606439"/>
                  <a:gd name="connsiteX39" fmla="*/ 294747 w 521831"/>
                  <a:gd name="connsiteY39" fmla="*/ 404882 h 606439"/>
                  <a:gd name="connsiteX40" fmla="*/ 275475 w 521831"/>
                  <a:gd name="connsiteY40" fmla="*/ 387619 h 606439"/>
                  <a:gd name="connsiteX41" fmla="*/ 260880 w 521831"/>
                  <a:gd name="connsiteY41" fmla="*/ 387712 h 606439"/>
                  <a:gd name="connsiteX42" fmla="*/ 246193 w 521831"/>
                  <a:gd name="connsiteY42" fmla="*/ 387619 h 606439"/>
                  <a:gd name="connsiteX43" fmla="*/ 227014 w 521831"/>
                  <a:gd name="connsiteY43" fmla="*/ 404882 h 606439"/>
                  <a:gd name="connsiteX44" fmla="*/ 218033 w 521831"/>
                  <a:gd name="connsiteY44" fmla="*/ 407868 h 606439"/>
                  <a:gd name="connsiteX45" fmla="*/ 203158 w 521831"/>
                  <a:gd name="connsiteY45" fmla="*/ 393404 h 606439"/>
                  <a:gd name="connsiteX46" fmla="*/ 203158 w 521831"/>
                  <a:gd name="connsiteY46" fmla="*/ 362330 h 606439"/>
                  <a:gd name="connsiteX47" fmla="*/ 218033 w 521831"/>
                  <a:gd name="connsiteY47" fmla="*/ 348240 h 606439"/>
                  <a:gd name="connsiteX48" fmla="*/ 260891 w 521831"/>
                  <a:gd name="connsiteY48" fmla="*/ 0 h 606439"/>
                  <a:gd name="connsiteX49" fmla="*/ 433412 w 521831"/>
                  <a:gd name="connsiteY49" fmla="*/ 57425 h 606439"/>
                  <a:gd name="connsiteX50" fmla="*/ 400591 w 521831"/>
                  <a:gd name="connsiteY50" fmla="*/ 80301 h 606439"/>
                  <a:gd name="connsiteX51" fmla="*/ 389183 w 521831"/>
                  <a:gd name="connsiteY51" fmla="*/ 96361 h 606439"/>
                  <a:gd name="connsiteX52" fmla="*/ 378149 w 521831"/>
                  <a:gd name="connsiteY52" fmla="*/ 134457 h 606439"/>
                  <a:gd name="connsiteX53" fmla="*/ 378056 w 521831"/>
                  <a:gd name="connsiteY53" fmla="*/ 135578 h 606439"/>
                  <a:gd name="connsiteX54" fmla="*/ 370575 w 521831"/>
                  <a:gd name="connsiteY54" fmla="*/ 186560 h 606439"/>
                  <a:gd name="connsiteX55" fmla="*/ 381142 w 521831"/>
                  <a:gd name="connsiteY55" fmla="*/ 210837 h 606439"/>
                  <a:gd name="connsiteX56" fmla="*/ 353931 w 521831"/>
                  <a:gd name="connsiteY56" fmla="*/ 260044 h 606439"/>
                  <a:gd name="connsiteX57" fmla="*/ 296143 w 521831"/>
                  <a:gd name="connsiteY57" fmla="*/ 330261 h 606439"/>
                  <a:gd name="connsiteX58" fmla="*/ 260891 w 521831"/>
                  <a:gd name="connsiteY58" fmla="*/ 338291 h 606439"/>
                  <a:gd name="connsiteX59" fmla="*/ 225639 w 521831"/>
                  <a:gd name="connsiteY59" fmla="*/ 330261 h 606439"/>
                  <a:gd name="connsiteX60" fmla="*/ 167758 w 521831"/>
                  <a:gd name="connsiteY60" fmla="*/ 260044 h 606439"/>
                  <a:gd name="connsiteX61" fmla="*/ 140548 w 521831"/>
                  <a:gd name="connsiteY61" fmla="*/ 210837 h 606439"/>
                  <a:gd name="connsiteX62" fmla="*/ 151207 w 521831"/>
                  <a:gd name="connsiteY62" fmla="*/ 186560 h 606439"/>
                  <a:gd name="connsiteX63" fmla="*/ 143727 w 521831"/>
                  <a:gd name="connsiteY63" fmla="*/ 135578 h 606439"/>
                  <a:gd name="connsiteX64" fmla="*/ 143633 w 521831"/>
                  <a:gd name="connsiteY64" fmla="*/ 134457 h 606439"/>
                  <a:gd name="connsiteX65" fmla="*/ 132599 w 521831"/>
                  <a:gd name="connsiteY65" fmla="*/ 96361 h 606439"/>
                  <a:gd name="connsiteX66" fmla="*/ 121192 w 521831"/>
                  <a:gd name="connsiteY66" fmla="*/ 80301 h 606439"/>
                  <a:gd name="connsiteX67" fmla="*/ 88277 w 521831"/>
                  <a:gd name="connsiteY67" fmla="*/ 57425 h 606439"/>
                  <a:gd name="connsiteX68" fmla="*/ 260891 w 521831"/>
                  <a:gd name="connsiteY68"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1831" h="606439">
                    <a:moveTo>
                      <a:pt x="176656" y="380983"/>
                    </a:moveTo>
                    <a:cubicBezTo>
                      <a:pt x="181238" y="380983"/>
                      <a:pt x="185072" y="383691"/>
                      <a:pt x="186943" y="387521"/>
                    </a:cubicBezTo>
                    <a:cubicBezTo>
                      <a:pt x="204711" y="417314"/>
                      <a:pt x="237817" y="495486"/>
                      <a:pt x="260916" y="497073"/>
                    </a:cubicBezTo>
                    <a:cubicBezTo>
                      <a:pt x="284014" y="495486"/>
                      <a:pt x="317026" y="417314"/>
                      <a:pt x="334888" y="387521"/>
                    </a:cubicBezTo>
                    <a:cubicBezTo>
                      <a:pt x="336665" y="383691"/>
                      <a:pt x="340593" y="380983"/>
                      <a:pt x="345082" y="380983"/>
                    </a:cubicBezTo>
                    <a:cubicBezTo>
                      <a:pt x="347233" y="380983"/>
                      <a:pt x="349103" y="381637"/>
                      <a:pt x="350786" y="382571"/>
                    </a:cubicBezTo>
                    <a:cubicBezTo>
                      <a:pt x="357239" y="386026"/>
                      <a:pt x="394927" y="408441"/>
                      <a:pt x="416530" y="416286"/>
                    </a:cubicBezTo>
                    <a:cubicBezTo>
                      <a:pt x="489193" y="442437"/>
                      <a:pt x="521831" y="469055"/>
                      <a:pt x="521831" y="487267"/>
                    </a:cubicBezTo>
                    <a:lnTo>
                      <a:pt x="521831" y="606439"/>
                    </a:lnTo>
                    <a:lnTo>
                      <a:pt x="260916" y="606439"/>
                    </a:lnTo>
                    <a:lnTo>
                      <a:pt x="0" y="606439"/>
                    </a:lnTo>
                    <a:lnTo>
                      <a:pt x="0" y="487267"/>
                    </a:lnTo>
                    <a:cubicBezTo>
                      <a:pt x="0" y="469055"/>
                      <a:pt x="32638" y="442437"/>
                      <a:pt x="105301" y="416286"/>
                    </a:cubicBezTo>
                    <a:cubicBezTo>
                      <a:pt x="126904" y="408441"/>
                      <a:pt x="164592" y="386026"/>
                      <a:pt x="170951" y="382571"/>
                    </a:cubicBezTo>
                    <a:cubicBezTo>
                      <a:pt x="172634" y="381637"/>
                      <a:pt x="174598" y="380983"/>
                      <a:pt x="176656" y="380983"/>
                    </a:cubicBezTo>
                    <a:close/>
                    <a:moveTo>
                      <a:pt x="218033" y="348240"/>
                    </a:moveTo>
                    <a:cubicBezTo>
                      <a:pt x="218875" y="348240"/>
                      <a:pt x="219623" y="348333"/>
                      <a:pt x="220372" y="348427"/>
                    </a:cubicBezTo>
                    <a:cubicBezTo>
                      <a:pt x="220559" y="348520"/>
                      <a:pt x="220840" y="348520"/>
                      <a:pt x="221027" y="348520"/>
                    </a:cubicBezTo>
                    <a:cubicBezTo>
                      <a:pt x="221027" y="348520"/>
                      <a:pt x="221120" y="348613"/>
                      <a:pt x="221120" y="348613"/>
                    </a:cubicBezTo>
                    <a:cubicBezTo>
                      <a:pt x="221588" y="348707"/>
                      <a:pt x="221962" y="348800"/>
                      <a:pt x="222336" y="348893"/>
                    </a:cubicBezTo>
                    <a:cubicBezTo>
                      <a:pt x="222524" y="348893"/>
                      <a:pt x="222711" y="348987"/>
                      <a:pt x="222898" y="349080"/>
                    </a:cubicBezTo>
                    <a:cubicBezTo>
                      <a:pt x="223085" y="349173"/>
                      <a:pt x="223272" y="349173"/>
                      <a:pt x="223553" y="349266"/>
                    </a:cubicBezTo>
                    <a:cubicBezTo>
                      <a:pt x="224956" y="349920"/>
                      <a:pt x="226359" y="350666"/>
                      <a:pt x="227575" y="351693"/>
                    </a:cubicBezTo>
                    <a:cubicBezTo>
                      <a:pt x="234498" y="357105"/>
                      <a:pt x="238989" y="367183"/>
                      <a:pt x="247783" y="367836"/>
                    </a:cubicBezTo>
                    <a:cubicBezTo>
                      <a:pt x="248625" y="367929"/>
                      <a:pt x="249467" y="367929"/>
                      <a:pt x="250309" y="367929"/>
                    </a:cubicBezTo>
                    <a:cubicBezTo>
                      <a:pt x="251151" y="367929"/>
                      <a:pt x="256390" y="367836"/>
                      <a:pt x="260880" y="367836"/>
                    </a:cubicBezTo>
                    <a:cubicBezTo>
                      <a:pt x="265371" y="367836"/>
                      <a:pt x="270610" y="367929"/>
                      <a:pt x="271358" y="367929"/>
                    </a:cubicBezTo>
                    <a:cubicBezTo>
                      <a:pt x="272294" y="367929"/>
                      <a:pt x="273136" y="367929"/>
                      <a:pt x="273978" y="367836"/>
                    </a:cubicBezTo>
                    <a:cubicBezTo>
                      <a:pt x="282772" y="367183"/>
                      <a:pt x="287169" y="357105"/>
                      <a:pt x="294186" y="351693"/>
                    </a:cubicBezTo>
                    <a:cubicBezTo>
                      <a:pt x="295402" y="350666"/>
                      <a:pt x="296711" y="349920"/>
                      <a:pt x="298208" y="349266"/>
                    </a:cubicBezTo>
                    <a:cubicBezTo>
                      <a:pt x="298395" y="349173"/>
                      <a:pt x="298676" y="349173"/>
                      <a:pt x="298863" y="349080"/>
                    </a:cubicBezTo>
                    <a:cubicBezTo>
                      <a:pt x="299050" y="348987"/>
                      <a:pt x="299237" y="348893"/>
                      <a:pt x="299331" y="348893"/>
                    </a:cubicBezTo>
                    <a:cubicBezTo>
                      <a:pt x="299799" y="348800"/>
                      <a:pt x="300173" y="348707"/>
                      <a:pt x="300547" y="348613"/>
                    </a:cubicBezTo>
                    <a:cubicBezTo>
                      <a:pt x="300641" y="348613"/>
                      <a:pt x="300641" y="348520"/>
                      <a:pt x="300734" y="348520"/>
                    </a:cubicBezTo>
                    <a:cubicBezTo>
                      <a:pt x="300921" y="348520"/>
                      <a:pt x="301108" y="348520"/>
                      <a:pt x="301296" y="348427"/>
                    </a:cubicBezTo>
                    <a:cubicBezTo>
                      <a:pt x="302138" y="348333"/>
                      <a:pt x="302886" y="348240"/>
                      <a:pt x="303728" y="348240"/>
                    </a:cubicBezTo>
                    <a:cubicBezTo>
                      <a:pt x="311680" y="348240"/>
                      <a:pt x="318135" y="354492"/>
                      <a:pt x="318603" y="362330"/>
                    </a:cubicBezTo>
                    <a:lnTo>
                      <a:pt x="318603" y="393404"/>
                    </a:lnTo>
                    <a:cubicBezTo>
                      <a:pt x="318322" y="401429"/>
                      <a:pt x="311774" y="407868"/>
                      <a:pt x="303728" y="407868"/>
                    </a:cubicBezTo>
                    <a:cubicBezTo>
                      <a:pt x="300360" y="407868"/>
                      <a:pt x="297273" y="406748"/>
                      <a:pt x="294747" y="404882"/>
                    </a:cubicBezTo>
                    <a:cubicBezTo>
                      <a:pt x="286327" y="399376"/>
                      <a:pt x="280620" y="387899"/>
                      <a:pt x="275475" y="387619"/>
                    </a:cubicBezTo>
                    <a:lnTo>
                      <a:pt x="260880" y="387712"/>
                    </a:lnTo>
                    <a:lnTo>
                      <a:pt x="246193" y="387619"/>
                    </a:lnTo>
                    <a:cubicBezTo>
                      <a:pt x="241047" y="387899"/>
                      <a:pt x="235434" y="399376"/>
                      <a:pt x="227014" y="404882"/>
                    </a:cubicBezTo>
                    <a:cubicBezTo>
                      <a:pt x="224488" y="406748"/>
                      <a:pt x="221401" y="407868"/>
                      <a:pt x="218033" y="407868"/>
                    </a:cubicBezTo>
                    <a:cubicBezTo>
                      <a:pt x="209894" y="407868"/>
                      <a:pt x="203345" y="401429"/>
                      <a:pt x="203158" y="393404"/>
                    </a:cubicBezTo>
                    <a:lnTo>
                      <a:pt x="203158" y="362330"/>
                    </a:lnTo>
                    <a:cubicBezTo>
                      <a:pt x="203532" y="354492"/>
                      <a:pt x="210081" y="348240"/>
                      <a:pt x="218033" y="348240"/>
                    </a:cubicBezTo>
                    <a:close/>
                    <a:moveTo>
                      <a:pt x="260891" y="0"/>
                    </a:moveTo>
                    <a:cubicBezTo>
                      <a:pt x="317557" y="0"/>
                      <a:pt x="433412" y="35949"/>
                      <a:pt x="433412" y="57425"/>
                    </a:cubicBezTo>
                    <a:cubicBezTo>
                      <a:pt x="433412" y="66015"/>
                      <a:pt x="421256" y="73858"/>
                      <a:pt x="400591" y="80301"/>
                    </a:cubicBezTo>
                    <a:cubicBezTo>
                      <a:pt x="399375" y="85997"/>
                      <a:pt x="395355" y="91412"/>
                      <a:pt x="389183" y="96361"/>
                    </a:cubicBezTo>
                    <a:cubicBezTo>
                      <a:pt x="388155" y="111394"/>
                      <a:pt x="384134" y="123906"/>
                      <a:pt x="378149" y="134457"/>
                    </a:cubicBezTo>
                    <a:cubicBezTo>
                      <a:pt x="378149" y="134831"/>
                      <a:pt x="378056" y="135204"/>
                      <a:pt x="378056" y="135578"/>
                    </a:cubicBezTo>
                    <a:cubicBezTo>
                      <a:pt x="375905" y="157801"/>
                      <a:pt x="370575" y="186560"/>
                      <a:pt x="370575" y="186560"/>
                    </a:cubicBezTo>
                    <a:cubicBezTo>
                      <a:pt x="370575" y="186560"/>
                      <a:pt x="381142" y="191415"/>
                      <a:pt x="381142" y="210837"/>
                    </a:cubicBezTo>
                    <a:cubicBezTo>
                      <a:pt x="377401" y="259764"/>
                      <a:pt x="357952" y="238662"/>
                      <a:pt x="353931" y="260044"/>
                    </a:cubicBezTo>
                    <a:cubicBezTo>
                      <a:pt x="347292" y="295713"/>
                      <a:pt x="315780" y="321390"/>
                      <a:pt x="296143" y="330261"/>
                    </a:cubicBezTo>
                    <a:cubicBezTo>
                      <a:pt x="284736" y="335396"/>
                      <a:pt x="273141" y="338011"/>
                      <a:pt x="260891" y="338291"/>
                    </a:cubicBezTo>
                    <a:cubicBezTo>
                      <a:pt x="248642" y="338011"/>
                      <a:pt x="236953" y="335396"/>
                      <a:pt x="225639" y="330261"/>
                    </a:cubicBezTo>
                    <a:cubicBezTo>
                      <a:pt x="206003" y="321390"/>
                      <a:pt x="174491" y="295713"/>
                      <a:pt x="167758" y="260044"/>
                    </a:cubicBezTo>
                    <a:cubicBezTo>
                      <a:pt x="163737" y="238662"/>
                      <a:pt x="144288" y="259764"/>
                      <a:pt x="140548" y="210837"/>
                    </a:cubicBezTo>
                    <a:cubicBezTo>
                      <a:pt x="140548" y="191415"/>
                      <a:pt x="151207" y="186560"/>
                      <a:pt x="151207" y="186560"/>
                    </a:cubicBezTo>
                    <a:cubicBezTo>
                      <a:pt x="151207" y="186560"/>
                      <a:pt x="145784" y="157801"/>
                      <a:pt x="143727" y="135578"/>
                    </a:cubicBezTo>
                    <a:cubicBezTo>
                      <a:pt x="143633" y="135204"/>
                      <a:pt x="143633" y="134831"/>
                      <a:pt x="143633" y="134457"/>
                    </a:cubicBezTo>
                    <a:cubicBezTo>
                      <a:pt x="137555" y="123906"/>
                      <a:pt x="133534" y="111394"/>
                      <a:pt x="132599" y="96361"/>
                    </a:cubicBezTo>
                    <a:cubicBezTo>
                      <a:pt x="126428" y="91412"/>
                      <a:pt x="122407" y="85997"/>
                      <a:pt x="121192" y="80301"/>
                    </a:cubicBezTo>
                    <a:cubicBezTo>
                      <a:pt x="100526" y="73858"/>
                      <a:pt x="88277" y="66015"/>
                      <a:pt x="88277" y="57425"/>
                    </a:cubicBezTo>
                    <a:cubicBezTo>
                      <a:pt x="88277" y="35949"/>
                      <a:pt x="204132" y="0"/>
                      <a:pt x="260891" y="0"/>
                    </a:cubicBezTo>
                    <a:close/>
                  </a:path>
                </a:pathLst>
              </a:custGeom>
              <a:solidFill>
                <a:schemeClr val="bg1"/>
              </a:solidFill>
              <a:ln>
                <a:noFill/>
              </a:ln>
            </p:spPr>
            <p:txBody>
              <a:bodyPr/>
              <a:lstStyle/>
              <a:p>
                <a:endParaRPr lang="zh-CN" altLang="en-US">
                  <a:cs typeface="+mn-ea"/>
                  <a:sym typeface="+mn-lt"/>
                </a:endParaRPr>
              </a:p>
            </p:txBody>
          </p:sp>
          <p:sp>
            <p:nvSpPr>
              <p:cNvPr id="19" name="working-man-with-a-bow-and-a-hat_57080"/>
              <p:cNvSpPr>
                <a:spLocks noChangeAspect="1"/>
              </p:cNvSpPr>
              <p:nvPr/>
            </p:nvSpPr>
            <p:spPr bwMode="auto">
              <a:xfrm>
                <a:off x="6882968" y="4271434"/>
                <a:ext cx="123854" cy="143934"/>
              </a:xfrm>
              <a:custGeom>
                <a:avLst/>
                <a:gdLst>
                  <a:gd name="connsiteX0" fmla="*/ 176656 w 521831"/>
                  <a:gd name="connsiteY0" fmla="*/ 380983 h 606439"/>
                  <a:gd name="connsiteX1" fmla="*/ 186943 w 521831"/>
                  <a:gd name="connsiteY1" fmla="*/ 387521 h 606439"/>
                  <a:gd name="connsiteX2" fmla="*/ 260916 w 521831"/>
                  <a:gd name="connsiteY2" fmla="*/ 497073 h 606439"/>
                  <a:gd name="connsiteX3" fmla="*/ 334888 w 521831"/>
                  <a:gd name="connsiteY3" fmla="*/ 387521 h 606439"/>
                  <a:gd name="connsiteX4" fmla="*/ 345082 w 521831"/>
                  <a:gd name="connsiteY4" fmla="*/ 380983 h 606439"/>
                  <a:gd name="connsiteX5" fmla="*/ 350786 w 521831"/>
                  <a:gd name="connsiteY5" fmla="*/ 382571 h 606439"/>
                  <a:gd name="connsiteX6" fmla="*/ 416530 w 521831"/>
                  <a:gd name="connsiteY6" fmla="*/ 416286 h 606439"/>
                  <a:gd name="connsiteX7" fmla="*/ 521831 w 521831"/>
                  <a:gd name="connsiteY7" fmla="*/ 487267 h 606439"/>
                  <a:gd name="connsiteX8" fmla="*/ 521831 w 521831"/>
                  <a:gd name="connsiteY8" fmla="*/ 606439 h 606439"/>
                  <a:gd name="connsiteX9" fmla="*/ 260916 w 521831"/>
                  <a:gd name="connsiteY9" fmla="*/ 606439 h 606439"/>
                  <a:gd name="connsiteX10" fmla="*/ 0 w 521831"/>
                  <a:gd name="connsiteY10" fmla="*/ 606439 h 606439"/>
                  <a:gd name="connsiteX11" fmla="*/ 0 w 521831"/>
                  <a:gd name="connsiteY11" fmla="*/ 487267 h 606439"/>
                  <a:gd name="connsiteX12" fmla="*/ 105301 w 521831"/>
                  <a:gd name="connsiteY12" fmla="*/ 416286 h 606439"/>
                  <a:gd name="connsiteX13" fmla="*/ 170951 w 521831"/>
                  <a:gd name="connsiteY13" fmla="*/ 382571 h 606439"/>
                  <a:gd name="connsiteX14" fmla="*/ 176656 w 521831"/>
                  <a:gd name="connsiteY14" fmla="*/ 380983 h 606439"/>
                  <a:gd name="connsiteX15" fmla="*/ 218033 w 521831"/>
                  <a:gd name="connsiteY15" fmla="*/ 348240 h 606439"/>
                  <a:gd name="connsiteX16" fmla="*/ 220372 w 521831"/>
                  <a:gd name="connsiteY16" fmla="*/ 348427 h 606439"/>
                  <a:gd name="connsiteX17" fmla="*/ 221027 w 521831"/>
                  <a:gd name="connsiteY17" fmla="*/ 348520 h 606439"/>
                  <a:gd name="connsiteX18" fmla="*/ 221120 w 521831"/>
                  <a:gd name="connsiteY18" fmla="*/ 348613 h 606439"/>
                  <a:gd name="connsiteX19" fmla="*/ 222336 w 521831"/>
                  <a:gd name="connsiteY19" fmla="*/ 348893 h 606439"/>
                  <a:gd name="connsiteX20" fmla="*/ 222898 w 521831"/>
                  <a:gd name="connsiteY20" fmla="*/ 349080 h 606439"/>
                  <a:gd name="connsiteX21" fmla="*/ 223553 w 521831"/>
                  <a:gd name="connsiteY21" fmla="*/ 349266 h 606439"/>
                  <a:gd name="connsiteX22" fmla="*/ 227575 w 521831"/>
                  <a:gd name="connsiteY22" fmla="*/ 351693 h 606439"/>
                  <a:gd name="connsiteX23" fmla="*/ 247783 w 521831"/>
                  <a:gd name="connsiteY23" fmla="*/ 367836 h 606439"/>
                  <a:gd name="connsiteX24" fmla="*/ 250309 w 521831"/>
                  <a:gd name="connsiteY24" fmla="*/ 367929 h 606439"/>
                  <a:gd name="connsiteX25" fmla="*/ 260880 w 521831"/>
                  <a:gd name="connsiteY25" fmla="*/ 367836 h 606439"/>
                  <a:gd name="connsiteX26" fmla="*/ 271358 w 521831"/>
                  <a:gd name="connsiteY26" fmla="*/ 367929 h 606439"/>
                  <a:gd name="connsiteX27" fmla="*/ 273978 w 521831"/>
                  <a:gd name="connsiteY27" fmla="*/ 367836 h 606439"/>
                  <a:gd name="connsiteX28" fmla="*/ 294186 w 521831"/>
                  <a:gd name="connsiteY28" fmla="*/ 351693 h 606439"/>
                  <a:gd name="connsiteX29" fmla="*/ 298208 w 521831"/>
                  <a:gd name="connsiteY29" fmla="*/ 349266 h 606439"/>
                  <a:gd name="connsiteX30" fmla="*/ 298863 w 521831"/>
                  <a:gd name="connsiteY30" fmla="*/ 349080 h 606439"/>
                  <a:gd name="connsiteX31" fmla="*/ 299331 w 521831"/>
                  <a:gd name="connsiteY31" fmla="*/ 348893 h 606439"/>
                  <a:gd name="connsiteX32" fmla="*/ 300547 w 521831"/>
                  <a:gd name="connsiteY32" fmla="*/ 348613 h 606439"/>
                  <a:gd name="connsiteX33" fmla="*/ 300734 w 521831"/>
                  <a:gd name="connsiteY33" fmla="*/ 348520 h 606439"/>
                  <a:gd name="connsiteX34" fmla="*/ 301296 w 521831"/>
                  <a:gd name="connsiteY34" fmla="*/ 348427 h 606439"/>
                  <a:gd name="connsiteX35" fmla="*/ 303728 w 521831"/>
                  <a:gd name="connsiteY35" fmla="*/ 348240 h 606439"/>
                  <a:gd name="connsiteX36" fmla="*/ 318603 w 521831"/>
                  <a:gd name="connsiteY36" fmla="*/ 362330 h 606439"/>
                  <a:gd name="connsiteX37" fmla="*/ 318603 w 521831"/>
                  <a:gd name="connsiteY37" fmla="*/ 393404 h 606439"/>
                  <a:gd name="connsiteX38" fmla="*/ 303728 w 521831"/>
                  <a:gd name="connsiteY38" fmla="*/ 407868 h 606439"/>
                  <a:gd name="connsiteX39" fmla="*/ 294747 w 521831"/>
                  <a:gd name="connsiteY39" fmla="*/ 404882 h 606439"/>
                  <a:gd name="connsiteX40" fmla="*/ 275475 w 521831"/>
                  <a:gd name="connsiteY40" fmla="*/ 387619 h 606439"/>
                  <a:gd name="connsiteX41" fmla="*/ 260880 w 521831"/>
                  <a:gd name="connsiteY41" fmla="*/ 387712 h 606439"/>
                  <a:gd name="connsiteX42" fmla="*/ 246193 w 521831"/>
                  <a:gd name="connsiteY42" fmla="*/ 387619 h 606439"/>
                  <a:gd name="connsiteX43" fmla="*/ 227014 w 521831"/>
                  <a:gd name="connsiteY43" fmla="*/ 404882 h 606439"/>
                  <a:gd name="connsiteX44" fmla="*/ 218033 w 521831"/>
                  <a:gd name="connsiteY44" fmla="*/ 407868 h 606439"/>
                  <a:gd name="connsiteX45" fmla="*/ 203158 w 521831"/>
                  <a:gd name="connsiteY45" fmla="*/ 393404 h 606439"/>
                  <a:gd name="connsiteX46" fmla="*/ 203158 w 521831"/>
                  <a:gd name="connsiteY46" fmla="*/ 362330 h 606439"/>
                  <a:gd name="connsiteX47" fmla="*/ 218033 w 521831"/>
                  <a:gd name="connsiteY47" fmla="*/ 348240 h 606439"/>
                  <a:gd name="connsiteX48" fmla="*/ 260891 w 521831"/>
                  <a:gd name="connsiteY48" fmla="*/ 0 h 606439"/>
                  <a:gd name="connsiteX49" fmla="*/ 433412 w 521831"/>
                  <a:gd name="connsiteY49" fmla="*/ 57425 h 606439"/>
                  <a:gd name="connsiteX50" fmla="*/ 400591 w 521831"/>
                  <a:gd name="connsiteY50" fmla="*/ 80301 h 606439"/>
                  <a:gd name="connsiteX51" fmla="*/ 389183 w 521831"/>
                  <a:gd name="connsiteY51" fmla="*/ 96361 h 606439"/>
                  <a:gd name="connsiteX52" fmla="*/ 378149 w 521831"/>
                  <a:gd name="connsiteY52" fmla="*/ 134457 h 606439"/>
                  <a:gd name="connsiteX53" fmla="*/ 378056 w 521831"/>
                  <a:gd name="connsiteY53" fmla="*/ 135578 h 606439"/>
                  <a:gd name="connsiteX54" fmla="*/ 370575 w 521831"/>
                  <a:gd name="connsiteY54" fmla="*/ 186560 h 606439"/>
                  <a:gd name="connsiteX55" fmla="*/ 381142 w 521831"/>
                  <a:gd name="connsiteY55" fmla="*/ 210837 h 606439"/>
                  <a:gd name="connsiteX56" fmla="*/ 353931 w 521831"/>
                  <a:gd name="connsiteY56" fmla="*/ 260044 h 606439"/>
                  <a:gd name="connsiteX57" fmla="*/ 296143 w 521831"/>
                  <a:gd name="connsiteY57" fmla="*/ 330261 h 606439"/>
                  <a:gd name="connsiteX58" fmla="*/ 260891 w 521831"/>
                  <a:gd name="connsiteY58" fmla="*/ 338291 h 606439"/>
                  <a:gd name="connsiteX59" fmla="*/ 225639 w 521831"/>
                  <a:gd name="connsiteY59" fmla="*/ 330261 h 606439"/>
                  <a:gd name="connsiteX60" fmla="*/ 167758 w 521831"/>
                  <a:gd name="connsiteY60" fmla="*/ 260044 h 606439"/>
                  <a:gd name="connsiteX61" fmla="*/ 140548 w 521831"/>
                  <a:gd name="connsiteY61" fmla="*/ 210837 h 606439"/>
                  <a:gd name="connsiteX62" fmla="*/ 151207 w 521831"/>
                  <a:gd name="connsiteY62" fmla="*/ 186560 h 606439"/>
                  <a:gd name="connsiteX63" fmla="*/ 143727 w 521831"/>
                  <a:gd name="connsiteY63" fmla="*/ 135578 h 606439"/>
                  <a:gd name="connsiteX64" fmla="*/ 143633 w 521831"/>
                  <a:gd name="connsiteY64" fmla="*/ 134457 h 606439"/>
                  <a:gd name="connsiteX65" fmla="*/ 132599 w 521831"/>
                  <a:gd name="connsiteY65" fmla="*/ 96361 h 606439"/>
                  <a:gd name="connsiteX66" fmla="*/ 121192 w 521831"/>
                  <a:gd name="connsiteY66" fmla="*/ 80301 h 606439"/>
                  <a:gd name="connsiteX67" fmla="*/ 88277 w 521831"/>
                  <a:gd name="connsiteY67" fmla="*/ 57425 h 606439"/>
                  <a:gd name="connsiteX68" fmla="*/ 260891 w 521831"/>
                  <a:gd name="connsiteY68"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1831" h="606439">
                    <a:moveTo>
                      <a:pt x="176656" y="380983"/>
                    </a:moveTo>
                    <a:cubicBezTo>
                      <a:pt x="181238" y="380983"/>
                      <a:pt x="185072" y="383691"/>
                      <a:pt x="186943" y="387521"/>
                    </a:cubicBezTo>
                    <a:cubicBezTo>
                      <a:pt x="204711" y="417314"/>
                      <a:pt x="237817" y="495486"/>
                      <a:pt x="260916" y="497073"/>
                    </a:cubicBezTo>
                    <a:cubicBezTo>
                      <a:pt x="284014" y="495486"/>
                      <a:pt x="317026" y="417314"/>
                      <a:pt x="334888" y="387521"/>
                    </a:cubicBezTo>
                    <a:cubicBezTo>
                      <a:pt x="336665" y="383691"/>
                      <a:pt x="340593" y="380983"/>
                      <a:pt x="345082" y="380983"/>
                    </a:cubicBezTo>
                    <a:cubicBezTo>
                      <a:pt x="347233" y="380983"/>
                      <a:pt x="349103" y="381637"/>
                      <a:pt x="350786" y="382571"/>
                    </a:cubicBezTo>
                    <a:cubicBezTo>
                      <a:pt x="357239" y="386026"/>
                      <a:pt x="394927" y="408441"/>
                      <a:pt x="416530" y="416286"/>
                    </a:cubicBezTo>
                    <a:cubicBezTo>
                      <a:pt x="489193" y="442437"/>
                      <a:pt x="521831" y="469055"/>
                      <a:pt x="521831" y="487267"/>
                    </a:cubicBezTo>
                    <a:lnTo>
                      <a:pt x="521831" y="606439"/>
                    </a:lnTo>
                    <a:lnTo>
                      <a:pt x="260916" y="606439"/>
                    </a:lnTo>
                    <a:lnTo>
                      <a:pt x="0" y="606439"/>
                    </a:lnTo>
                    <a:lnTo>
                      <a:pt x="0" y="487267"/>
                    </a:lnTo>
                    <a:cubicBezTo>
                      <a:pt x="0" y="469055"/>
                      <a:pt x="32638" y="442437"/>
                      <a:pt x="105301" y="416286"/>
                    </a:cubicBezTo>
                    <a:cubicBezTo>
                      <a:pt x="126904" y="408441"/>
                      <a:pt x="164592" y="386026"/>
                      <a:pt x="170951" y="382571"/>
                    </a:cubicBezTo>
                    <a:cubicBezTo>
                      <a:pt x="172634" y="381637"/>
                      <a:pt x="174598" y="380983"/>
                      <a:pt x="176656" y="380983"/>
                    </a:cubicBezTo>
                    <a:close/>
                    <a:moveTo>
                      <a:pt x="218033" y="348240"/>
                    </a:moveTo>
                    <a:cubicBezTo>
                      <a:pt x="218875" y="348240"/>
                      <a:pt x="219623" y="348333"/>
                      <a:pt x="220372" y="348427"/>
                    </a:cubicBezTo>
                    <a:cubicBezTo>
                      <a:pt x="220559" y="348520"/>
                      <a:pt x="220840" y="348520"/>
                      <a:pt x="221027" y="348520"/>
                    </a:cubicBezTo>
                    <a:cubicBezTo>
                      <a:pt x="221027" y="348520"/>
                      <a:pt x="221120" y="348613"/>
                      <a:pt x="221120" y="348613"/>
                    </a:cubicBezTo>
                    <a:cubicBezTo>
                      <a:pt x="221588" y="348707"/>
                      <a:pt x="221962" y="348800"/>
                      <a:pt x="222336" y="348893"/>
                    </a:cubicBezTo>
                    <a:cubicBezTo>
                      <a:pt x="222524" y="348893"/>
                      <a:pt x="222711" y="348987"/>
                      <a:pt x="222898" y="349080"/>
                    </a:cubicBezTo>
                    <a:cubicBezTo>
                      <a:pt x="223085" y="349173"/>
                      <a:pt x="223272" y="349173"/>
                      <a:pt x="223553" y="349266"/>
                    </a:cubicBezTo>
                    <a:cubicBezTo>
                      <a:pt x="224956" y="349920"/>
                      <a:pt x="226359" y="350666"/>
                      <a:pt x="227575" y="351693"/>
                    </a:cubicBezTo>
                    <a:cubicBezTo>
                      <a:pt x="234498" y="357105"/>
                      <a:pt x="238989" y="367183"/>
                      <a:pt x="247783" y="367836"/>
                    </a:cubicBezTo>
                    <a:cubicBezTo>
                      <a:pt x="248625" y="367929"/>
                      <a:pt x="249467" y="367929"/>
                      <a:pt x="250309" y="367929"/>
                    </a:cubicBezTo>
                    <a:cubicBezTo>
                      <a:pt x="251151" y="367929"/>
                      <a:pt x="256390" y="367836"/>
                      <a:pt x="260880" y="367836"/>
                    </a:cubicBezTo>
                    <a:cubicBezTo>
                      <a:pt x="265371" y="367836"/>
                      <a:pt x="270610" y="367929"/>
                      <a:pt x="271358" y="367929"/>
                    </a:cubicBezTo>
                    <a:cubicBezTo>
                      <a:pt x="272294" y="367929"/>
                      <a:pt x="273136" y="367929"/>
                      <a:pt x="273978" y="367836"/>
                    </a:cubicBezTo>
                    <a:cubicBezTo>
                      <a:pt x="282772" y="367183"/>
                      <a:pt x="287169" y="357105"/>
                      <a:pt x="294186" y="351693"/>
                    </a:cubicBezTo>
                    <a:cubicBezTo>
                      <a:pt x="295402" y="350666"/>
                      <a:pt x="296711" y="349920"/>
                      <a:pt x="298208" y="349266"/>
                    </a:cubicBezTo>
                    <a:cubicBezTo>
                      <a:pt x="298395" y="349173"/>
                      <a:pt x="298676" y="349173"/>
                      <a:pt x="298863" y="349080"/>
                    </a:cubicBezTo>
                    <a:cubicBezTo>
                      <a:pt x="299050" y="348987"/>
                      <a:pt x="299237" y="348893"/>
                      <a:pt x="299331" y="348893"/>
                    </a:cubicBezTo>
                    <a:cubicBezTo>
                      <a:pt x="299799" y="348800"/>
                      <a:pt x="300173" y="348707"/>
                      <a:pt x="300547" y="348613"/>
                    </a:cubicBezTo>
                    <a:cubicBezTo>
                      <a:pt x="300641" y="348613"/>
                      <a:pt x="300641" y="348520"/>
                      <a:pt x="300734" y="348520"/>
                    </a:cubicBezTo>
                    <a:cubicBezTo>
                      <a:pt x="300921" y="348520"/>
                      <a:pt x="301108" y="348520"/>
                      <a:pt x="301296" y="348427"/>
                    </a:cubicBezTo>
                    <a:cubicBezTo>
                      <a:pt x="302138" y="348333"/>
                      <a:pt x="302886" y="348240"/>
                      <a:pt x="303728" y="348240"/>
                    </a:cubicBezTo>
                    <a:cubicBezTo>
                      <a:pt x="311680" y="348240"/>
                      <a:pt x="318135" y="354492"/>
                      <a:pt x="318603" y="362330"/>
                    </a:cubicBezTo>
                    <a:lnTo>
                      <a:pt x="318603" y="393404"/>
                    </a:lnTo>
                    <a:cubicBezTo>
                      <a:pt x="318322" y="401429"/>
                      <a:pt x="311774" y="407868"/>
                      <a:pt x="303728" y="407868"/>
                    </a:cubicBezTo>
                    <a:cubicBezTo>
                      <a:pt x="300360" y="407868"/>
                      <a:pt x="297273" y="406748"/>
                      <a:pt x="294747" y="404882"/>
                    </a:cubicBezTo>
                    <a:cubicBezTo>
                      <a:pt x="286327" y="399376"/>
                      <a:pt x="280620" y="387899"/>
                      <a:pt x="275475" y="387619"/>
                    </a:cubicBezTo>
                    <a:lnTo>
                      <a:pt x="260880" y="387712"/>
                    </a:lnTo>
                    <a:lnTo>
                      <a:pt x="246193" y="387619"/>
                    </a:lnTo>
                    <a:cubicBezTo>
                      <a:pt x="241047" y="387899"/>
                      <a:pt x="235434" y="399376"/>
                      <a:pt x="227014" y="404882"/>
                    </a:cubicBezTo>
                    <a:cubicBezTo>
                      <a:pt x="224488" y="406748"/>
                      <a:pt x="221401" y="407868"/>
                      <a:pt x="218033" y="407868"/>
                    </a:cubicBezTo>
                    <a:cubicBezTo>
                      <a:pt x="209894" y="407868"/>
                      <a:pt x="203345" y="401429"/>
                      <a:pt x="203158" y="393404"/>
                    </a:cubicBezTo>
                    <a:lnTo>
                      <a:pt x="203158" y="362330"/>
                    </a:lnTo>
                    <a:cubicBezTo>
                      <a:pt x="203532" y="354492"/>
                      <a:pt x="210081" y="348240"/>
                      <a:pt x="218033" y="348240"/>
                    </a:cubicBezTo>
                    <a:close/>
                    <a:moveTo>
                      <a:pt x="260891" y="0"/>
                    </a:moveTo>
                    <a:cubicBezTo>
                      <a:pt x="317557" y="0"/>
                      <a:pt x="433412" y="35949"/>
                      <a:pt x="433412" y="57425"/>
                    </a:cubicBezTo>
                    <a:cubicBezTo>
                      <a:pt x="433412" y="66015"/>
                      <a:pt x="421256" y="73858"/>
                      <a:pt x="400591" y="80301"/>
                    </a:cubicBezTo>
                    <a:cubicBezTo>
                      <a:pt x="399375" y="85997"/>
                      <a:pt x="395355" y="91412"/>
                      <a:pt x="389183" y="96361"/>
                    </a:cubicBezTo>
                    <a:cubicBezTo>
                      <a:pt x="388155" y="111394"/>
                      <a:pt x="384134" y="123906"/>
                      <a:pt x="378149" y="134457"/>
                    </a:cubicBezTo>
                    <a:cubicBezTo>
                      <a:pt x="378149" y="134831"/>
                      <a:pt x="378056" y="135204"/>
                      <a:pt x="378056" y="135578"/>
                    </a:cubicBezTo>
                    <a:cubicBezTo>
                      <a:pt x="375905" y="157801"/>
                      <a:pt x="370575" y="186560"/>
                      <a:pt x="370575" y="186560"/>
                    </a:cubicBezTo>
                    <a:cubicBezTo>
                      <a:pt x="370575" y="186560"/>
                      <a:pt x="381142" y="191415"/>
                      <a:pt x="381142" y="210837"/>
                    </a:cubicBezTo>
                    <a:cubicBezTo>
                      <a:pt x="377401" y="259764"/>
                      <a:pt x="357952" y="238662"/>
                      <a:pt x="353931" y="260044"/>
                    </a:cubicBezTo>
                    <a:cubicBezTo>
                      <a:pt x="347292" y="295713"/>
                      <a:pt x="315780" y="321390"/>
                      <a:pt x="296143" y="330261"/>
                    </a:cubicBezTo>
                    <a:cubicBezTo>
                      <a:pt x="284736" y="335396"/>
                      <a:pt x="273141" y="338011"/>
                      <a:pt x="260891" y="338291"/>
                    </a:cubicBezTo>
                    <a:cubicBezTo>
                      <a:pt x="248642" y="338011"/>
                      <a:pt x="236953" y="335396"/>
                      <a:pt x="225639" y="330261"/>
                    </a:cubicBezTo>
                    <a:cubicBezTo>
                      <a:pt x="206003" y="321390"/>
                      <a:pt x="174491" y="295713"/>
                      <a:pt x="167758" y="260044"/>
                    </a:cubicBezTo>
                    <a:cubicBezTo>
                      <a:pt x="163737" y="238662"/>
                      <a:pt x="144288" y="259764"/>
                      <a:pt x="140548" y="210837"/>
                    </a:cubicBezTo>
                    <a:cubicBezTo>
                      <a:pt x="140548" y="191415"/>
                      <a:pt x="151207" y="186560"/>
                      <a:pt x="151207" y="186560"/>
                    </a:cubicBezTo>
                    <a:cubicBezTo>
                      <a:pt x="151207" y="186560"/>
                      <a:pt x="145784" y="157801"/>
                      <a:pt x="143727" y="135578"/>
                    </a:cubicBezTo>
                    <a:cubicBezTo>
                      <a:pt x="143633" y="135204"/>
                      <a:pt x="143633" y="134831"/>
                      <a:pt x="143633" y="134457"/>
                    </a:cubicBezTo>
                    <a:cubicBezTo>
                      <a:pt x="137555" y="123906"/>
                      <a:pt x="133534" y="111394"/>
                      <a:pt x="132599" y="96361"/>
                    </a:cubicBezTo>
                    <a:cubicBezTo>
                      <a:pt x="126428" y="91412"/>
                      <a:pt x="122407" y="85997"/>
                      <a:pt x="121192" y="80301"/>
                    </a:cubicBezTo>
                    <a:cubicBezTo>
                      <a:pt x="100526" y="73858"/>
                      <a:pt x="88277" y="66015"/>
                      <a:pt x="88277" y="57425"/>
                    </a:cubicBezTo>
                    <a:cubicBezTo>
                      <a:pt x="88277" y="35949"/>
                      <a:pt x="204132" y="0"/>
                      <a:pt x="260891" y="0"/>
                    </a:cubicBezTo>
                    <a:close/>
                  </a:path>
                </a:pathLst>
              </a:custGeom>
              <a:solidFill>
                <a:schemeClr val="bg1"/>
              </a:solidFill>
              <a:ln>
                <a:noFill/>
              </a:ln>
            </p:spPr>
            <p:txBody>
              <a:bodyPr/>
              <a:lstStyle/>
              <a:p>
                <a:endParaRPr lang="zh-CN" altLang="en-US">
                  <a:cs typeface="+mn-ea"/>
                  <a:sym typeface="+mn-lt"/>
                </a:endParaRPr>
              </a:p>
            </p:txBody>
          </p:sp>
        </p:gr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ViZmQwYjNiY2EwYTI4N2Q2NWRiMDE2MDM0MTU1YzI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1.3444094488189,&quot;left&quot;:108.6208661417323,&quot;top&quot;:188.99228346456692,&quot;width&quot;:789.3795275590551}"/>
</p:tagLst>
</file>

<file path=ppt/theme/theme1.xml><?xml version="1.0" encoding="utf-8"?>
<a:theme xmlns:a="http://schemas.openxmlformats.org/drawingml/2006/main" name="Office 主题​​">
  <a:themeElements>
    <a:clrScheme name="自定义 80">
      <a:dk1>
        <a:sysClr val="windowText" lastClr="000000"/>
      </a:dk1>
      <a:lt1>
        <a:sysClr val="window" lastClr="FFFFFF"/>
      </a:lt1>
      <a:dk2>
        <a:srgbClr val="17406D"/>
      </a:dk2>
      <a:lt2>
        <a:srgbClr val="DBEFF9"/>
      </a:lt2>
      <a:accent1>
        <a:srgbClr val="0F6FC6"/>
      </a:accent1>
      <a:accent2>
        <a:srgbClr val="009DD9"/>
      </a:accent2>
      <a:accent3>
        <a:srgbClr val="17406D"/>
      </a:accent3>
      <a:accent4>
        <a:srgbClr val="0F6FC6"/>
      </a:accent4>
      <a:accent5>
        <a:srgbClr val="0F6FC6"/>
      </a:accent5>
      <a:accent6>
        <a:srgbClr val="0F6FC6"/>
      </a:accent6>
      <a:hlink>
        <a:srgbClr val="F49100"/>
      </a:hlink>
      <a:folHlink>
        <a:srgbClr val="85DFD0"/>
      </a:folHlink>
    </a:clrScheme>
    <a:fontScheme name="5rfz13bv">
      <a:majorFont>
        <a:latin typeface="思源黑体 CN Bold"/>
        <a:ea typeface="思源黑体 CN Bold"/>
        <a:cs typeface=""/>
      </a:majorFont>
      <a:minorFont>
        <a:latin typeface="思源黑体 CN Bold"/>
        <a:ea typeface="思源黑体 CN Bol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774</Words>
  <Application>Microsoft Office PowerPoint</Application>
  <PresentationFormat>宽屏</PresentationFormat>
  <Paragraphs>60</Paragraphs>
  <Slides>13</Slides>
  <Notes>0</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成龙 于</dc:creator>
  <cp:lastModifiedBy>a82269</cp:lastModifiedBy>
  <cp:revision>12</cp:revision>
  <dcterms:created xsi:type="dcterms:W3CDTF">2024-01-17T15:47:00Z</dcterms:created>
  <dcterms:modified xsi:type="dcterms:W3CDTF">2026-03-15T05:16:30Z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FA737C95F0FC4D3C918BFAEECB3B430D_11</vt:lpwstr>
  </property>
  <property fmtid="{D5CDD505-2E9C-101B-9397-08002B2CF9AE}" pid="3" name="KSOProductBuildVer">
    <vt:lpwstr>2052-12.1.0.25225</vt:lpwstr>
  </property>
  <property fmtid="{D5CDD505-2E9C-101B-9397-08002B2CF9AE}" pid="4" name="KSOTemplateUUID">
    <vt:lpwstr>v1.0_mb_ypW1KesQ9+xESVGk2LoCdg==</vt:lpwstr>
  </property>
</Properties>
</file>